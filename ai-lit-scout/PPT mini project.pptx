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7" r:id="rId2"/>
    <p:sldId id="318" r:id="rId3"/>
    <p:sldId id="319" r:id="rId4"/>
    <p:sldId id="320" r:id="rId5"/>
    <p:sldId id="321" r:id="rId6"/>
    <p:sldId id="322" r:id="rId7"/>
    <p:sldId id="323" r:id="rId8"/>
    <p:sldId id="324" r:id="rId9"/>
    <p:sldId id="325" r:id="rId10"/>
    <p:sldId id="326" r:id="rId11"/>
    <p:sldId id="32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8C53E-29B9-49A1-A7BA-17E19607A0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C6312A-B40C-4351-88B1-E9B16AE384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3DC18-C9D0-4F87-A4E7-01216290B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43843-8351-4CD6-9C2F-6C5AB1372358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E559F-192A-47D7-BAE7-12B50ECA1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731D3-5256-4E28-964F-E9D30DCA6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2C4E4-5571-4A20-B810-C28D175D3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809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19CC0-5DFF-422F-A203-BC51B9A8E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22834-744F-4B4E-AF70-80E13E7FF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C4795-6B04-4244-B434-A9B7C94EB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43843-8351-4CD6-9C2F-6C5AB1372358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50B21-594D-4DEB-B8C4-89CE64D69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7B035-4491-42EC-9BAD-DB9524D1C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2C4E4-5571-4A20-B810-C28D175D3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211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A3A7F-00B3-4C74-A9E3-8472AC418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F4F34-187B-4101-8A51-90247BE2C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5A984-A24A-45C1-8E01-09768D5F6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43843-8351-4CD6-9C2F-6C5AB1372358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31CDA-D9B1-425A-88DC-FFD87DAA9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78384-B65A-4F84-8E0E-79B825DC7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2C4E4-5571-4A20-B810-C28D175D3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391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1ECA5-EAE2-4495-82B2-A7C405EA1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A14E4-0C3F-4E4D-8DEA-DAA5E19FD9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46F3C1-CB15-40AD-A9F4-6ADE38D73A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C4BBB-DBFB-45B8-A269-A0D22BD5E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43843-8351-4CD6-9C2F-6C5AB1372358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9DCC4B-0768-49F4-A0F2-BB363FCBE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C3AAC0-00AD-4AF3-87CD-7DC9B389C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2C4E4-5571-4A20-B810-C28D175D3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346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82B44-D665-439E-8ADF-AA2CD5C2E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9BED8F-4B19-4598-9B5F-A976F7446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9AA1B7-26C2-41B3-9951-CDA1B08FF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39B2DE-C222-4E9E-9B7B-DC1043F2E5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F5F7CA-61FF-4874-9851-595B8831B5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82C3C1-5E91-4C05-B7EF-14494E4C2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43843-8351-4CD6-9C2F-6C5AB1372358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4B7345-2C3F-41F9-A029-379A86DDA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C86599-2E9A-456D-941F-792E55C4B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2C4E4-5571-4A20-B810-C28D175D3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279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C45CD-2C6D-4BED-8CB2-F4D3B2B75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1C69A7-ACB4-46DC-8A56-5E9679834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43843-8351-4CD6-9C2F-6C5AB1372358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CBA949-32DB-40E5-B58D-D0ABD1B0D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2276A7-693D-4BEE-9610-201BB451E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2C4E4-5571-4A20-B810-C28D175D3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50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2ECAFB-2E91-4581-B9C3-401360B7D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43843-8351-4CD6-9C2F-6C5AB1372358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953FD7-F3D8-4D17-9A5E-4DE63480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2A7F22-6043-4780-BFA3-9EB28A057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2C4E4-5571-4A20-B810-C28D175D3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110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0C4E-1B0D-4A71-9600-9B447FE8A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BA52C-0F3B-442E-84E2-EDD3F6D96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DA2854-1819-4478-B59E-F9284F2248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B0FF05-71BA-4CB8-BE5F-EAF3BE00F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43843-8351-4CD6-9C2F-6C5AB1372358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D522F7-C581-4BA0-A1FD-B7A0AC7D1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A2DBDA-5DB4-4E40-B706-869AEB46C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2C4E4-5571-4A20-B810-C28D175D3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19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52F21-4F03-4A58-8371-7DE489365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D41113-BB5A-4098-87CE-37169677E9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37BD16-5CED-4FF7-93BF-CBAEABEF7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4C9BDE-0744-4064-A7BB-B934BBA6C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43843-8351-4CD6-9C2F-6C5AB1372358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B411A6-DA1F-44F1-A0B3-2E3C91759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2CB33-8C86-499E-938C-83BC56DFD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2C4E4-5571-4A20-B810-C28D175D3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378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BDFF5-DA39-40DF-A0B3-1B5D376B6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900011-DCDB-4E9A-9311-F32DECBAB8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DC4D9-44AE-413D-B633-ED76040A9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43843-8351-4CD6-9C2F-6C5AB1372358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D5FE5-2EA1-4961-A3CC-D1600C2EA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04A42-8273-4C48-9D32-58A54DFDA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2C4E4-5571-4A20-B810-C28D175D3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500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5730B8-EEB6-4593-9FE4-BD4E81AA9B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00F687-EA15-4470-8673-CFACA60830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C67B2-775F-4864-A58C-9EABFE1A6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43843-8351-4CD6-9C2F-6C5AB1372358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96141-55CC-46F0-997F-939EA8BDA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E98F8-7AFF-4ED3-AD4A-D1024FF2A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2C4E4-5571-4A20-B810-C28D175D3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71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048786-D5A2-4795-872E-BF513A48B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97E05-E478-4B68-A6E0-F0AAAB0D8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36A2D-1D63-4EB8-B270-985788B69C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843843-8351-4CD6-9C2F-6C5AB1372358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A95F8-1470-4F23-8C1B-CD31F92F05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53AD7-391E-4899-AB43-8CEE598616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2C4E4-5571-4A20-B810-C28D175D3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420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19ED99B-DBC5-4426-BBC6-8BBB2E2998D2}"/>
              </a:ext>
            </a:extLst>
          </p:cNvPr>
          <p:cNvSpPr txBox="1">
            <a:spLocks noChangeArrowheads="1"/>
          </p:cNvSpPr>
          <p:nvPr/>
        </p:nvSpPr>
        <p:spPr>
          <a:xfrm>
            <a:off x="1504943" y="-18057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n-IN" sz="4000" b="1" dirty="0">
                <a:solidFill>
                  <a:schemeClr val="bg1"/>
                </a:solidFill>
              </a:rPr>
              <a:t>Mini Project (BCS- 351)</a:t>
            </a:r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endParaRPr lang="en-IN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11BE22-15C4-49E9-92D6-1535F166D04E}"/>
              </a:ext>
            </a:extLst>
          </p:cNvPr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         		</a:t>
            </a:r>
            <a:r>
              <a:rPr lang="en-IN" sz="2400" b="1" dirty="0">
                <a:solidFill>
                  <a:schemeClr val="bg1"/>
                </a:solidFill>
              </a:rPr>
              <a:t>Mini Project (BCS-554)                                                       ODD Semester 2025-26</a:t>
            </a:r>
            <a:endParaRPr lang="en-US" sz="2400" b="1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  <a:defRPr/>
            </a:pP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38415B-9138-40A8-9E17-54906A209D78}"/>
              </a:ext>
            </a:extLst>
          </p:cNvPr>
          <p:cNvSpPr txBox="1"/>
          <p:nvPr/>
        </p:nvSpPr>
        <p:spPr>
          <a:xfrm>
            <a:off x="1097277" y="986880"/>
            <a:ext cx="999744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200" b="1" dirty="0"/>
              <a:t>    Mini Project Presentation </a:t>
            </a:r>
            <a:endParaRPr lang="en-US" sz="2200" b="1" dirty="0"/>
          </a:p>
          <a:p>
            <a:pPr algn="ctr"/>
            <a:r>
              <a:rPr lang="en-IN" sz="2200" b="1" dirty="0"/>
              <a:t>On</a:t>
            </a:r>
          </a:p>
          <a:p>
            <a:pPr algn="ctr"/>
            <a:r>
              <a:rPr lang="en-IN" sz="2000" b="1" dirty="0"/>
              <a:t>AI-Powered Research Literature Scout</a:t>
            </a:r>
          </a:p>
          <a:p>
            <a:pPr algn="ctr"/>
            <a:endParaRPr lang="en-US" sz="1000" b="1" dirty="0"/>
          </a:p>
          <a:p>
            <a:pPr algn="ctr"/>
            <a:r>
              <a:rPr lang="en-IN" sz="2200" b="1" dirty="0"/>
              <a:t>Submitted by</a:t>
            </a:r>
            <a:endParaRPr lang="en-US" sz="2200" dirty="0"/>
          </a:p>
          <a:p>
            <a:pPr algn="ctr"/>
            <a:r>
              <a:rPr lang="en-IN" sz="2000" b="1" dirty="0"/>
              <a:t>Prakash Kumar(2400AIML9005) </a:t>
            </a:r>
            <a:endParaRPr lang="en-US" sz="2000" dirty="0"/>
          </a:p>
          <a:p>
            <a:pPr algn="ctr"/>
            <a:r>
              <a:rPr lang="en-IN" sz="2000" b="1" dirty="0"/>
              <a:t>Harsh Yadav(2300971640037) </a:t>
            </a:r>
            <a:endParaRPr lang="en-US" sz="2000" dirty="0"/>
          </a:p>
          <a:p>
            <a:pPr algn="ctr"/>
            <a:r>
              <a:rPr lang="en-IN" sz="2000" b="1" dirty="0"/>
              <a:t>Akshay Prashar(2400AIML9004)  </a:t>
            </a:r>
            <a:endParaRPr lang="en-US" sz="2000" dirty="0"/>
          </a:p>
          <a:p>
            <a:pPr algn="ctr"/>
            <a:r>
              <a:rPr lang="en-US" b="1" dirty="0"/>
              <a:t>Dev </a:t>
            </a:r>
            <a:r>
              <a:rPr lang="en-US" b="1" dirty="0" err="1"/>
              <a:t>bhatle</a:t>
            </a:r>
            <a:r>
              <a:rPr lang="en-US" b="1" dirty="0"/>
              <a:t>(2300971640031)</a:t>
            </a:r>
            <a:r>
              <a:rPr lang="en-IN" sz="2200" dirty="0"/>
              <a:t> </a:t>
            </a:r>
            <a:endParaRPr lang="en-IN" sz="1000" dirty="0"/>
          </a:p>
          <a:p>
            <a:pPr algn="ctr"/>
            <a:r>
              <a:rPr lang="en-IN" sz="2200" b="1" dirty="0"/>
              <a:t>Under the Supervision</a:t>
            </a:r>
            <a:endParaRPr lang="en-US" sz="2200" dirty="0"/>
          </a:p>
          <a:p>
            <a:pPr algn="ctr"/>
            <a:r>
              <a:rPr lang="en-IN" sz="2200" b="1" dirty="0"/>
              <a:t>of</a:t>
            </a:r>
            <a:endParaRPr lang="en-US" sz="2200" dirty="0"/>
          </a:p>
          <a:p>
            <a:pPr algn="ctr"/>
            <a:r>
              <a:rPr lang="en-IN" sz="2200" b="1" dirty="0"/>
              <a:t>Dr. Anil kumar</a:t>
            </a:r>
            <a:endParaRPr lang="en-US" sz="2200" dirty="0"/>
          </a:p>
          <a:p>
            <a:pPr algn="ctr"/>
            <a:r>
              <a:rPr lang="en-IN" sz="2200" b="1" dirty="0"/>
              <a:t>(prof.)</a:t>
            </a:r>
          </a:p>
          <a:p>
            <a:pPr algn="ctr"/>
            <a:r>
              <a:rPr lang="en-IN" sz="2200" b="1" dirty="0"/>
              <a:t>Galgotias College of Engineering &amp; Technology</a:t>
            </a:r>
            <a:endParaRPr lang="en-US" sz="2200" b="1" dirty="0"/>
          </a:p>
          <a:p>
            <a:pPr algn="ctr"/>
            <a:r>
              <a:rPr lang="en-IN" sz="2200" b="1" dirty="0"/>
              <a:t>  </a:t>
            </a:r>
            <a:r>
              <a:rPr lang="en-IN" b="1" dirty="0"/>
              <a:t>Greater Noida, Uttar Pradesh</a:t>
            </a:r>
            <a:endParaRPr lang="en-US" dirty="0"/>
          </a:p>
          <a:p>
            <a:pPr algn="ctr"/>
            <a:endParaRPr lang="en-US" sz="2200" b="1" dirty="0"/>
          </a:p>
        </p:txBody>
      </p:sp>
      <p:pic>
        <p:nvPicPr>
          <p:cNvPr id="1028" name="Picture 4" descr="https://galgotiacollege.edu/public/uploads/all/3106/phelosophy.jpeg">
            <a:extLst>
              <a:ext uri="{FF2B5EF4-FFF2-40B4-BE49-F238E27FC236}">
                <a16:creationId xmlns:a16="http://schemas.microsoft.com/office/drawing/2014/main" id="{A8415EEE-B85B-444D-966E-2290962AA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6453"/>
            <a:ext cx="1504949" cy="1033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9215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19ED99B-DBC5-4426-BBC6-8BBB2E2998D2}"/>
              </a:ext>
            </a:extLst>
          </p:cNvPr>
          <p:cNvSpPr txBox="1">
            <a:spLocks noChangeArrowheads="1"/>
          </p:cNvSpPr>
          <p:nvPr/>
        </p:nvSpPr>
        <p:spPr>
          <a:xfrm>
            <a:off x="1504943" y="-18057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endParaRPr lang="en-IN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11BE22-15C4-49E9-92D6-1535F166D04E}"/>
              </a:ext>
            </a:extLst>
          </p:cNvPr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         		</a:t>
            </a:r>
            <a:r>
              <a:rPr lang="en-IN" sz="2400" b="1" dirty="0">
                <a:solidFill>
                  <a:schemeClr val="bg1"/>
                </a:solidFill>
              </a:rPr>
              <a:t>Mini Project (BCS-554)                                                       ODD Semester 2025-26</a:t>
            </a:r>
            <a:endParaRPr lang="en-US" sz="2400" b="1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  <a:defRPr/>
            </a:pP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38415B-9138-40A8-9E17-54906A209D78}"/>
              </a:ext>
            </a:extLst>
          </p:cNvPr>
          <p:cNvSpPr txBox="1"/>
          <p:nvPr/>
        </p:nvSpPr>
        <p:spPr>
          <a:xfrm>
            <a:off x="-2033026" y="888197"/>
            <a:ext cx="95897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IN" sz="2400" dirty="0"/>
          </a:p>
          <a:p>
            <a:pPr algn="ctr"/>
            <a:r>
              <a:rPr lang="en-IN" sz="2400" b="1" dirty="0"/>
              <a:t> 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https://galgotiacollege.edu/public/uploads/all/3106/phelosophy.jpeg">
            <a:extLst>
              <a:ext uri="{FF2B5EF4-FFF2-40B4-BE49-F238E27FC236}">
                <a16:creationId xmlns:a16="http://schemas.microsoft.com/office/drawing/2014/main" id="{A8415EEE-B85B-444D-966E-2290962AA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6453"/>
            <a:ext cx="1504949" cy="1033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B657F14-C3C8-F256-6DE6-A52AB4A16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3624" y="1849010"/>
            <a:ext cx="8184776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 Statement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Technology Stack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Architecture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 &amp; Future Scope</a:t>
            </a:r>
          </a:p>
        </p:txBody>
      </p:sp>
    </p:spTree>
    <p:extLst>
      <p:ext uri="{BB962C8B-B14F-4D97-AF65-F5344CB8AC3E}">
        <p14:creationId xmlns:p14="http://schemas.microsoft.com/office/powerpoint/2010/main" val="721145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19ED99B-DBC5-4426-BBC6-8BBB2E2998D2}"/>
              </a:ext>
            </a:extLst>
          </p:cNvPr>
          <p:cNvSpPr txBox="1">
            <a:spLocks noChangeArrowheads="1"/>
          </p:cNvSpPr>
          <p:nvPr/>
        </p:nvSpPr>
        <p:spPr>
          <a:xfrm>
            <a:off x="1504943" y="-16453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s-ES" sz="4000" dirty="0" err="1">
                <a:latin typeface="Candara" charset="0"/>
                <a:cs typeface="Arial" charset="0"/>
              </a:rPr>
              <a:t>Introduction</a:t>
            </a:r>
            <a:endParaRPr lang="es-ES" sz="4000" dirty="0">
              <a:latin typeface="Candara" charset="0"/>
              <a:cs typeface="Arial" charset="0"/>
            </a:endParaRPr>
          </a:p>
          <a:p>
            <a:pPr algn="ctr"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endParaRPr lang="en-IN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11BE22-15C4-49E9-92D6-1535F166D04E}"/>
              </a:ext>
            </a:extLst>
          </p:cNvPr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         		</a:t>
            </a:r>
            <a:r>
              <a:rPr lang="en-IN" sz="2400" b="1" dirty="0">
                <a:solidFill>
                  <a:schemeClr val="bg1"/>
                </a:solidFill>
              </a:rPr>
              <a:t>Mini Project </a:t>
            </a:r>
            <a:r>
              <a:rPr lang="en-IN" sz="2400" b="1">
                <a:solidFill>
                  <a:schemeClr val="bg1"/>
                </a:solidFill>
              </a:rPr>
              <a:t>(BCS-554)                                                       </a:t>
            </a:r>
            <a:r>
              <a:rPr lang="en-IN" sz="2400" b="1" dirty="0">
                <a:solidFill>
                  <a:schemeClr val="bg1"/>
                </a:solidFill>
              </a:rPr>
              <a:t>ODD </a:t>
            </a:r>
            <a:r>
              <a:rPr lang="en-IN" sz="2400" b="1">
                <a:solidFill>
                  <a:schemeClr val="bg1"/>
                </a:solidFill>
              </a:rPr>
              <a:t>Semester 2025-26</a:t>
            </a:r>
            <a:endParaRPr lang="en-US" sz="2400" b="1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  <a:defRPr/>
            </a:pP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38415B-9138-40A8-9E17-54906A209D78}"/>
              </a:ext>
            </a:extLst>
          </p:cNvPr>
          <p:cNvSpPr txBox="1"/>
          <p:nvPr/>
        </p:nvSpPr>
        <p:spPr>
          <a:xfrm>
            <a:off x="1504943" y="1738903"/>
            <a:ext cx="95897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algn="ctr"/>
            <a:r>
              <a:rPr lang="en-IN" sz="2400" b="1" dirty="0"/>
              <a:t> </a:t>
            </a:r>
            <a:endParaRPr lang="en-US" sz="2400" b="1" dirty="0"/>
          </a:p>
        </p:txBody>
      </p:sp>
      <p:pic>
        <p:nvPicPr>
          <p:cNvPr id="1028" name="Picture 4" descr="https://galgotiacollege.edu/public/uploads/all/3106/phelosophy.jpeg">
            <a:extLst>
              <a:ext uri="{FF2B5EF4-FFF2-40B4-BE49-F238E27FC236}">
                <a16:creationId xmlns:a16="http://schemas.microsoft.com/office/drawing/2014/main" id="{A8415EEE-B85B-444D-966E-2290962AA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6453"/>
            <a:ext cx="1504949" cy="1033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4BF3C06-3B3E-AC9F-15A0-337A047E7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6320" y="1397676"/>
            <a:ext cx="10407020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000" dirty="0"/>
              <a:t>An AI-based system to automate literature review.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000" dirty="0"/>
              <a:t>Fetches, ranks, clusters, and summarizes research papers.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000" dirty="0"/>
              <a:t>Reduces manual effort for students and researchers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00681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19ED99B-DBC5-4426-BBC6-8BBB2E2998D2}"/>
              </a:ext>
            </a:extLst>
          </p:cNvPr>
          <p:cNvSpPr txBox="1">
            <a:spLocks noChangeArrowheads="1"/>
          </p:cNvSpPr>
          <p:nvPr/>
        </p:nvSpPr>
        <p:spPr>
          <a:xfrm>
            <a:off x="1504943" y="-28878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n-IN" sz="4000" dirty="0"/>
              <a:t>Problem Statement</a:t>
            </a:r>
            <a:endParaRPr lang="es-ES" sz="4000" dirty="0">
              <a:latin typeface="Candara" charset="0"/>
              <a:cs typeface="Arial" charset="0"/>
            </a:endParaRPr>
          </a:p>
          <a:p>
            <a:pPr algn="ctr"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endParaRPr lang="en-IN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11BE22-15C4-49E9-92D6-1535F166D04E}"/>
              </a:ext>
            </a:extLst>
          </p:cNvPr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         		</a:t>
            </a:r>
            <a:r>
              <a:rPr lang="en-IN" sz="2400" b="1" dirty="0">
                <a:solidFill>
                  <a:schemeClr val="bg1"/>
                </a:solidFill>
              </a:rPr>
              <a:t>Mini Project (BCS-554)                                                       ODD Semester 2025-26</a:t>
            </a:r>
            <a:endParaRPr lang="en-US" sz="2400" b="1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  <a:defRPr/>
            </a:pP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38415B-9138-40A8-9E17-54906A209D78}"/>
              </a:ext>
            </a:extLst>
          </p:cNvPr>
          <p:cNvSpPr txBox="1"/>
          <p:nvPr/>
        </p:nvSpPr>
        <p:spPr>
          <a:xfrm>
            <a:off x="1504943" y="986428"/>
            <a:ext cx="95897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" sz="2400" b="1" dirty="0">
              <a:latin typeface="Candara" charset="0"/>
              <a:cs typeface="Arial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b="1" dirty="0"/>
          </a:p>
        </p:txBody>
      </p:sp>
      <p:pic>
        <p:nvPicPr>
          <p:cNvPr id="1028" name="Picture 4" descr="https://galgotiacollege.edu/public/uploads/all/3106/phelosophy.jpeg">
            <a:extLst>
              <a:ext uri="{FF2B5EF4-FFF2-40B4-BE49-F238E27FC236}">
                <a16:creationId xmlns:a16="http://schemas.microsoft.com/office/drawing/2014/main" id="{A8415EEE-B85B-444D-966E-2290962AA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6453"/>
            <a:ext cx="1504949" cy="1033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3DC9695-5F9E-D265-07FC-30E4BD22A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401" y="2106303"/>
            <a:ext cx="1032319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000" dirty="0"/>
              <a:t>Manual literature review is time-consuming.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000" dirty="0"/>
              <a:t>Difficulty filtering relevant papers.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000" dirty="0"/>
              <a:t>Lack of concise summaries and structured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71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19ED99B-DBC5-4426-BBC6-8BBB2E2998D2}"/>
              </a:ext>
            </a:extLst>
          </p:cNvPr>
          <p:cNvSpPr txBox="1">
            <a:spLocks noChangeArrowheads="1"/>
          </p:cNvSpPr>
          <p:nvPr/>
        </p:nvSpPr>
        <p:spPr>
          <a:xfrm>
            <a:off x="1504943" y="-18057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n-IN" sz="4000" dirty="0"/>
              <a:t>Objectives</a:t>
            </a:r>
            <a:endParaRPr lang="es-ES" sz="4000" dirty="0">
              <a:latin typeface="Candara" charset="0"/>
              <a:cs typeface="Arial" charset="0"/>
            </a:endParaRPr>
          </a:p>
          <a:p>
            <a:pPr algn="ctr"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endParaRPr lang="en-IN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11BE22-15C4-49E9-92D6-1535F166D04E}"/>
              </a:ext>
            </a:extLst>
          </p:cNvPr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         		</a:t>
            </a:r>
            <a:r>
              <a:rPr lang="en-IN" sz="2400" b="1" dirty="0">
                <a:solidFill>
                  <a:schemeClr val="bg1"/>
                </a:solidFill>
              </a:rPr>
              <a:t>Mini Project (BCS-554)                                                       ODD Semester 2025-26</a:t>
            </a:r>
            <a:endParaRPr lang="en-US" sz="2400" b="1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  <a:defRPr/>
            </a:pP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38415B-9138-40A8-9E17-54906A209D78}"/>
              </a:ext>
            </a:extLst>
          </p:cNvPr>
          <p:cNvSpPr txBox="1"/>
          <p:nvPr/>
        </p:nvSpPr>
        <p:spPr>
          <a:xfrm>
            <a:off x="1504943" y="986428"/>
            <a:ext cx="95897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s-ES" sz="2400" b="1" dirty="0">
              <a:latin typeface="Candara" charset="0"/>
              <a:cs typeface="Arial" charset="0"/>
            </a:endParaRPr>
          </a:p>
          <a:p>
            <a:pPr algn="ctr"/>
            <a:r>
              <a:rPr lang="en-IN" sz="2400" b="1" dirty="0"/>
              <a:t> </a:t>
            </a:r>
            <a:endParaRPr lang="en-US" sz="2400" b="1" dirty="0"/>
          </a:p>
        </p:txBody>
      </p:sp>
      <p:pic>
        <p:nvPicPr>
          <p:cNvPr id="1028" name="Picture 4" descr="https://galgotiacollege.edu/public/uploads/all/3106/phelosophy.jpeg">
            <a:extLst>
              <a:ext uri="{FF2B5EF4-FFF2-40B4-BE49-F238E27FC236}">
                <a16:creationId xmlns:a16="http://schemas.microsoft.com/office/drawing/2014/main" id="{A8415EEE-B85B-444D-966E-2290962AA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6453"/>
            <a:ext cx="1504949" cy="1033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A0E7A85-717B-5063-D537-4F7D065DE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4942" y="2192005"/>
            <a:ext cx="8123151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/>
              <a:t>Automated paper search by topic.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/>
              <a:t>Ranking using ML embeddings.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/>
              <a:t>Clustering papers thematically.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/>
              <a:t>Generating concise summaries.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946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19ED99B-DBC5-4426-BBC6-8BBB2E2998D2}"/>
              </a:ext>
            </a:extLst>
          </p:cNvPr>
          <p:cNvSpPr txBox="1">
            <a:spLocks noChangeArrowheads="1"/>
          </p:cNvSpPr>
          <p:nvPr/>
        </p:nvSpPr>
        <p:spPr>
          <a:xfrm>
            <a:off x="1504943" y="-18057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r>
              <a:rPr lang="es-ES" sz="4000" dirty="0">
                <a:latin typeface="Candara" charset="0"/>
                <a:cs typeface="Arial" charset="0"/>
              </a:rPr>
              <a:t>                             </a:t>
            </a:r>
            <a:r>
              <a:rPr lang="en-IN" sz="4000" dirty="0"/>
              <a:t>Technology Stack</a:t>
            </a:r>
            <a:endParaRPr lang="es-ES" sz="4000" dirty="0">
              <a:latin typeface="Candara" charset="0"/>
              <a:cs typeface="Arial" charset="0"/>
            </a:endParaRPr>
          </a:p>
          <a:p>
            <a:pPr algn="ctr"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endParaRPr lang="en-IN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11BE22-15C4-49E9-92D6-1535F166D04E}"/>
              </a:ext>
            </a:extLst>
          </p:cNvPr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         		</a:t>
            </a:r>
            <a:r>
              <a:rPr lang="en-IN" sz="2400" b="1" dirty="0">
                <a:solidFill>
                  <a:schemeClr val="bg1"/>
                </a:solidFill>
              </a:rPr>
              <a:t>Mini Project (BCS-554)                                                       ODD Semester 2025-26</a:t>
            </a:r>
            <a:endParaRPr lang="en-US" sz="2400" b="1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  <a:defRPr/>
            </a:pP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1028" name="Picture 4" descr="https://galgotiacollege.edu/public/uploads/all/3106/phelosophy.jpeg">
            <a:extLst>
              <a:ext uri="{FF2B5EF4-FFF2-40B4-BE49-F238E27FC236}">
                <a16:creationId xmlns:a16="http://schemas.microsoft.com/office/drawing/2014/main" id="{A8415EEE-B85B-444D-966E-2290962AA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6453"/>
            <a:ext cx="1504949" cy="1033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3FB9167-A58D-5271-8C19-6A367C8FC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4" y="2334735"/>
            <a:ext cx="10874750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/>
              <a:t>Frontend: HTML, CSS (Tailwind), JavaScript, SSE.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/>
              <a:t>Backend: </a:t>
            </a:r>
            <a:r>
              <a:rPr lang="en-IN" sz="4000" dirty="0" err="1"/>
              <a:t>FastAPI</a:t>
            </a:r>
            <a:r>
              <a:rPr lang="en-IN" sz="4000" dirty="0"/>
              <a:t> (Python), Async processing.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/>
              <a:t>ML: </a:t>
            </a:r>
            <a:r>
              <a:rPr lang="en-IN" sz="4000" dirty="0" err="1"/>
              <a:t>SentenceTransformer</a:t>
            </a:r>
            <a:r>
              <a:rPr lang="en-IN" sz="4000" dirty="0"/>
              <a:t>, FLAN-T5, </a:t>
            </a:r>
            <a:r>
              <a:rPr lang="en-IN" sz="4000" dirty="0" err="1"/>
              <a:t>KMeans</a:t>
            </a:r>
            <a:r>
              <a:rPr lang="en-IN" sz="4000" dirty="0"/>
              <a:t>, TF-IDF.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646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19ED99B-DBC5-4426-BBC6-8BBB2E2998D2}"/>
              </a:ext>
            </a:extLst>
          </p:cNvPr>
          <p:cNvSpPr txBox="1">
            <a:spLocks noChangeArrowheads="1"/>
          </p:cNvSpPr>
          <p:nvPr/>
        </p:nvSpPr>
        <p:spPr>
          <a:xfrm>
            <a:off x="1504943" y="-18057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/>
            <a:r>
              <a:rPr lang="en-IN" sz="4000" dirty="0"/>
              <a:t>System Architecture</a:t>
            </a:r>
            <a:endParaRPr lang="es-ES" sz="4000" dirty="0">
              <a:latin typeface="Candara" charset="0"/>
              <a:cs typeface="Arial" charset="0"/>
            </a:endParaRPr>
          </a:p>
          <a:p>
            <a:pPr algn="ctr"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endParaRPr lang="en-IN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11BE22-15C4-49E9-92D6-1535F166D04E}"/>
              </a:ext>
            </a:extLst>
          </p:cNvPr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         		</a:t>
            </a:r>
            <a:r>
              <a:rPr lang="en-IN" sz="2400" b="1" dirty="0">
                <a:solidFill>
                  <a:schemeClr val="bg1"/>
                </a:solidFill>
              </a:rPr>
              <a:t>Mini Project (BCS-554)                                                       ODD Semester 2025-26</a:t>
            </a:r>
            <a:endParaRPr lang="en-US" sz="2400" b="1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  <a:defRPr/>
            </a:pP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38415B-9138-40A8-9E17-54906A209D78}"/>
              </a:ext>
            </a:extLst>
          </p:cNvPr>
          <p:cNvSpPr txBox="1"/>
          <p:nvPr/>
        </p:nvSpPr>
        <p:spPr>
          <a:xfrm>
            <a:off x="1504943" y="986428"/>
            <a:ext cx="95897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" sz="2400" b="1" dirty="0">
              <a:latin typeface="Candara" charset="0"/>
              <a:cs typeface="Arial" charset="0"/>
            </a:endParaRPr>
          </a:p>
          <a:p>
            <a:pPr algn="ctr"/>
            <a:r>
              <a:rPr lang="en-IN" sz="2400" b="1" dirty="0"/>
              <a:t> </a:t>
            </a:r>
            <a:endParaRPr lang="en-US" sz="2400" b="1" dirty="0"/>
          </a:p>
        </p:txBody>
      </p:sp>
      <p:pic>
        <p:nvPicPr>
          <p:cNvPr id="1028" name="Picture 4" descr="https://galgotiacollege.edu/public/uploads/all/3106/phelosophy.jpeg">
            <a:extLst>
              <a:ext uri="{FF2B5EF4-FFF2-40B4-BE49-F238E27FC236}">
                <a16:creationId xmlns:a16="http://schemas.microsoft.com/office/drawing/2014/main" id="{A8415EEE-B85B-444D-966E-2290962AA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6453"/>
            <a:ext cx="1504949" cy="1033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075D195-F01A-D5DF-AD6C-F2D8CFF51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4943" y="1766237"/>
            <a:ext cx="9666514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/>
              <a:t>User inputs topic.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/>
              <a:t>Backend fetches papers from </a:t>
            </a:r>
            <a:r>
              <a:rPr lang="en-IN" sz="4000" dirty="0" err="1"/>
              <a:t>arXiv</a:t>
            </a:r>
            <a:r>
              <a:rPr lang="en-IN" sz="4000"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/>
              <a:t>Embeddings, ranking, clustering, summarization.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/>
              <a:t>Real-time progress updates.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/>
              <a:t>Export results as PDF/CSV.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890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19ED99B-DBC5-4426-BBC6-8BBB2E2998D2}"/>
              </a:ext>
            </a:extLst>
          </p:cNvPr>
          <p:cNvSpPr txBox="1">
            <a:spLocks noChangeArrowheads="1"/>
          </p:cNvSpPr>
          <p:nvPr/>
        </p:nvSpPr>
        <p:spPr>
          <a:xfrm>
            <a:off x="1504943" y="-18057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n-IN" sz="4000" dirty="0"/>
              <a:t>Key Features</a:t>
            </a:r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endParaRPr lang="en-IN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11BE22-15C4-49E9-92D6-1535F166D04E}"/>
              </a:ext>
            </a:extLst>
          </p:cNvPr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         		</a:t>
            </a:r>
            <a:r>
              <a:rPr lang="en-IN" sz="2400" b="1" dirty="0">
                <a:solidFill>
                  <a:schemeClr val="bg1"/>
                </a:solidFill>
              </a:rPr>
              <a:t>Mini Project (BCS-554)                                                       ODD Semester 2025-26</a:t>
            </a:r>
            <a:endParaRPr lang="en-US" sz="2400" b="1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  <a:defRPr/>
            </a:pP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38415B-9138-40A8-9E17-54906A209D78}"/>
              </a:ext>
            </a:extLst>
          </p:cNvPr>
          <p:cNvSpPr txBox="1"/>
          <p:nvPr/>
        </p:nvSpPr>
        <p:spPr>
          <a:xfrm>
            <a:off x="1504943" y="986428"/>
            <a:ext cx="95897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" sz="2400" b="1" dirty="0">
              <a:latin typeface="Candara" charset="0"/>
              <a:cs typeface="Arial" charset="0"/>
            </a:endParaRPr>
          </a:p>
          <a:p>
            <a:pPr algn="ctr"/>
            <a:r>
              <a:rPr lang="en-IN" sz="2400" b="1" dirty="0"/>
              <a:t> </a:t>
            </a:r>
            <a:endParaRPr lang="en-US" sz="2400" b="1" dirty="0"/>
          </a:p>
        </p:txBody>
      </p:sp>
      <p:pic>
        <p:nvPicPr>
          <p:cNvPr id="1028" name="Picture 4" descr="https://galgotiacollege.edu/public/uploads/all/3106/phelosophy.jpeg">
            <a:extLst>
              <a:ext uri="{FF2B5EF4-FFF2-40B4-BE49-F238E27FC236}">
                <a16:creationId xmlns:a16="http://schemas.microsoft.com/office/drawing/2014/main" id="{A8415EEE-B85B-444D-966E-2290962AA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6453"/>
            <a:ext cx="1504949" cy="1033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0A87BFC-90B7-AE63-833B-3CCD42980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8619" y="1293081"/>
            <a:ext cx="5994590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Smart paper fetching.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Relevance ranking.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Automatic clustering.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AI-generated summaries.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Real-time progress UI.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Export options.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235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19ED99B-DBC5-4426-BBC6-8BBB2E2998D2}"/>
              </a:ext>
            </a:extLst>
          </p:cNvPr>
          <p:cNvSpPr txBox="1">
            <a:spLocks noChangeArrowheads="1"/>
          </p:cNvSpPr>
          <p:nvPr/>
        </p:nvSpPr>
        <p:spPr>
          <a:xfrm>
            <a:off x="1504943" y="-18057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/>
            <a:r>
              <a:rPr lang="en-IN" sz="4000" dirty="0"/>
              <a:t>Results</a:t>
            </a:r>
            <a:endParaRPr lang="es-ES" sz="4000" dirty="0">
              <a:latin typeface="Candara" charset="0"/>
              <a:cs typeface="Arial" charset="0"/>
            </a:endParaRPr>
          </a:p>
          <a:p>
            <a:endParaRPr lang="es-ES" sz="4000" dirty="0">
              <a:latin typeface="Candara" charset="0"/>
              <a:cs typeface="Arial" charset="0"/>
            </a:endParaRPr>
          </a:p>
          <a:p>
            <a:pPr algn="ctr"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endParaRPr lang="en-IN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11BE22-15C4-49E9-92D6-1535F166D04E}"/>
              </a:ext>
            </a:extLst>
          </p:cNvPr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         		</a:t>
            </a:r>
            <a:r>
              <a:rPr lang="en-IN" sz="2400" b="1" dirty="0">
                <a:solidFill>
                  <a:schemeClr val="bg1"/>
                </a:solidFill>
              </a:rPr>
              <a:t>Mini Project (BCS-554)                                                       ODD Semester 2025-26</a:t>
            </a:r>
            <a:endParaRPr lang="en-US" sz="2400" b="1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  <a:defRPr/>
            </a:pP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38415B-9138-40A8-9E17-54906A209D78}"/>
              </a:ext>
            </a:extLst>
          </p:cNvPr>
          <p:cNvSpPr txBox="1"/>
          <p:nvPr/>
        </p:nvSpPr>
        <p:spPr>
          <a:xfrm>
            <a:off x="1504943" y="986428"/>
            <a:ext cx="95897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" sz="2400" b="1" dirty="0">
              <a:latin typeface="Candara" charset="0"/>
              <a:cs typeface="Arial" charset="0"/>
            </a:endParaRPr>
          </a:p>
          <a:p>
            <a:pPr algn="ctr"/>
            <a:r>
              <a:rPr lang="en-IN" sz="2400" b="1" dirty="0"/>
              <a:t> </a:t>
            </a:r>
            <a:endParaRPr lang="en-US" sz="2400" b="1" dirty="0"/>
          </a:p>
        </p:txBody>
      </p:sp>
      <p:pic>
        <p:nvPicPr>
          <p:cNvPr id="1028" name="Picture 4" descr="https://galgotiacollege.edu/public/uploads/all/3106/phelosophy.jpeg">
            <a:extLst>
              <a:ext uri="{FF2B5EF4-FFF2-40B4-BE49-F238E27FC236}">
                <a16:creationId xmlns:a16="http://schemas.microsoft.com/office/drawing/2014/main" id="{A8415EEE-B85B-444D-966E-2290962AA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6453"/>
            <a:ext cx="1504949" cy="1033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738F927-C386-8240-EF9E-AF096BA79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9932" y="2232828"/>
            <a:ext cx="854099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Ranked papers with relevance scores.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Clear cluster summaries.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Significant reduction in review time.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Professional PDF/CSV outputs.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704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19ED99B-DBC5-4426-BBC6-8BBB2E2998D2}"/>
              </a:ext>
            </a:extLst>
          </p:cNvPr>
          <p:cNvSpPr txBox="1">
            <a:spLocks noChangeArrowheads="1"/>
          </p:cNvSpPr>
          <p:nvPr/>
        </p:nvSpPr>
        <p:spPr>
          <a:xfrm>
            <a:off x="1504943" y="-18057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n-IN" sz="4000" dirty="0"/>
              <a:t>Conclusion &amp; Future Scope</a:t>
            </a:r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endParaRPr lang="en-IN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11BE22-15C4-49E9-92D6-1535F166D04E}"/>
              </a:ext>
            </a:extLst>
          </p:cNvPr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         		</a:t>
            </a:r>
            <a:r>
              <a:rPr lang="en-IN" sz="2400" b="1" dirty="0">
                <a:solidFill>
                  <a:schemeClr val="bg1"/>
                </a:solidFill>
              </a:rPr>
              <a:t>Mini Project (BCS-554)                                                       ODD Semester 2025-26</a:t>
            </a:r>
            <a:endParaRPr lang="en-US" sz="2400" b="1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  <a:defRPr/>
            </a:pP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1028" name="Picture 4" descr="https://galgotiacollege.edu/public/uploads/all/3106/phelosophy.jpeg">
            <a:extLst>
              <a:ext uri="{FF2B5EF4-FFF2-40B4-BE49-F238E27FC236}">
                <a16:creationId xmlns:a16="http://schemas.microsoft.com/office/drawing/2014/main" id="{A8415EEE-B85B-444D-966E-2290962AA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6453"/>
            <a:ext cx="1504949" cy="1033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6F71ABD-1878-4D82-86AB-48CAF3DC1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5452" y="1215897"/>
            <a:ext cx="9339395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Automates 80% of literature review workflow.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Saves time and improves research quality.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Future: Google Scholar integration, advanced PDF parsing, user accounts, local LLMs.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811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19ED99B-DBC5-4426-BBC6-8BBB2E2998D2}"/>
              </a:ext>
            </a:extLst>
          </p:cNvPr>
          <p:cNvSpPr txBox="1">
            <a:spLocks noChangeArrowheads="1"/>
          </p:cNvSpPr>
          <p:nvPr/>
        </p:nvSpPr>
        <p:spPr>
          <a:xfrm>
            <a:off x="1504943" y="-18057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endParaRPr lang="en-IN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11BE22-15C4-49E9-92D6-1535F166D04E}"/>
              </a:ext>
            </a:extLst>
          </p:cNvPr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         		</a:t>
            </a:r>
            <a:r>
              <a:rPr lang="en-IN" sz="2400" b="1" dirty="0">
                <a:solidFill>
                  <a:schemeClr val="bg1"/>
                </a:solidFill>
              </a:rPr>
              <a:t>Mini Project (BCS-554)                                                       ODD Semester 2025-26</a:t>
            </a:r>
            <a:endParaRPr lang="en-US" sz="2400" b="1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  <a:defRPr/>
            </a:pP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38415B-9138-40A8-9E17-54906A209D78}"/>
              </a:ext>
            </a:extLst>
          </p:cNvPr>
          <p:cNvSpPr txBox="1"/>
          <p:nvPr/>
        </p:nvSpPr>
        <p:spPr>
          <a:xfrm>
            <a:off x="1504943" y="986428"/>
            <a:ext cx="958977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" sz="9600" i="1" dirty="0">
              <a:latin typeface="Candara" charset="0"/>
              <a:cs typeface="Arial" charset="0"/>
            </a:endParaRPr>
          </a:p>
          <a:p>
            <a:pPr algn="ctr"/>
            <a:r>
              <a:rPr lang="en-IN" sz="9600" i="1"/>
              <a:t>Thank You.. </a:t>
            </a:r>
            <a:endParaRPr lang="en-US" sz="9600" i="1" dirty="0"/>
          </a:p>
        </p:txBody>
      </p:sp>
      <p:pic>
        <p:nvPicPr>
          <p:cNvPr id="1028" name="Picture 4" descr="https://galgotiacollege.edu/public/uploads/all/3106/phelosophy.jpeg">
            <a:extLst>
              <a:ext uri="{FF2B5EF4-FFF2-40B4-BE49-F238E27FC236}">
                <a16:creationId xmlns:a16="http://schemas.microsoft.com/office/drawing/2014/main" id="{A8415EEE-B85B-444D-966E-2290962AA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6453"/>
            <a:ext cx="1504949" cy="1033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2891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428</Words>
  <Application>Microsoft Office PowerPoint</Application>
  <PresentationFormat>Widescreen</PresentationFormat>
  <Paragraphs>100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Candara</vt:lpstr>
      <vt:lpstr>Times New Roman</vt:lpstr>
      <vt:lpstr>Tinos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Avijeet Singh</dc:creator>
  <cp:lastModifiedBy>prakash kumar</cp:lastModifiedBy>
  <cp:revision>22</cp:revision>
  <dcterms:created xsi:type="dcterms:W3CDTF">2024-12-30T17:50:15Z</dcterms:created>
  <dcterms:modified xsi:type="dcterms:W3CDTF">2025-12-20T13:42:14Z</dcterms:modified>
</cp:coreProperties>
</file>