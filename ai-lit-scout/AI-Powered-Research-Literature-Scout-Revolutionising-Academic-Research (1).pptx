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Roboto Slab"/>
      <p:regular r:id="rId14"/>
    </p:embeddedFont>
    <p:embeddedFont>
      <p:font typeface="Roboto Slab"/>
      <p:regular r:id="rId15"/>
    </p:embeddedFont>
    <p:embeddedFont>
      <p:font typeface="Roboto"/>
      <p:regular r:id="rId16"/>
    </p:embeddedFont>
    <p:embeddedFont>
      <p:font typeface="Roboto"/>
      <p:regular r:id="rId17"/>
    </p:embeddedFont>
    <p:embeddedFont>
      <p:font typeface="Roboto"/>
      <p:regular r:id="rId18"/>
    </p:embeddedFont>
    <p:embeddedFont>
      <p:font typeface="Roboto"/>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6.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17206" y="815578"/>
            <a:ext cx="7682389" cy="2610326"/>
          </a:xfrm>
          <a:prstGeom prst="rect">
            <a:avLst/>
          </a:prstGeom>
          <a:noFill/>
          <a:ln/>
        </p:spPr>
        <p:txBody>
          <a:bodyPr wrap="square" lIns="0" tIns="0" rIns="0" bIns="0" rtlCol="0" anchor="t"/>
          <a:lstStyle/>
          <a:p>
            <a:pPr algn="l" indent="0" marL="0">
              <a:lnSpc>
                <a:spcPts val="5100"/>
              </a:lnSpc>
              <a:buNone/>
            </a:pPr>
            <a:r>
              <a:rPr lang="en-US" sz="4100" dirty="0">
                <a:solidFill>
                  <a:srgbClr val="76B9FF"/>
                </a:solidFill>
                <a:latin typeface="Roboto Slab" pitchFamily="34" charset="0"/>
                <a:ea typeface="Roboto Slab" pitchFamily="34" charset="-122"/>
                <a:cs typeface="Roboto Slab" pitchFamily="34" charset="-120"/>
              </a:rPr>
              <a:t>AI-Powered Research Literature Scout: Revolutionising Academic Research</a:t>
            </a:r>
            <a:endParaRPr lang="en-US" sz="4100" dirty="0"/>
          </a:p>
        </p:txBody>
      </p:sp>
      <p:sp>
        <p:nvSpPr>
          <p:cNvPr id="4" name="Text 1"/>
          <p:cNvSpPr/>
          <p:nvPr/>
        </p:nvSpPr>
        <p:spPr>
          <a:xfrm>
            <a:off x="6217206" y="3739039"/>
            <a:ext cx="7682389" cy="1670447"/>
          </a:xfrm>
          <a:prstGeom prst="rect">
            <a:avLst/>
          </a:prstGeom>
          <a:noFill/>
          <a:ln/>
        </p:spPr>
        <p:txBody>
          <a:bodyPr wrap="square" lIns="0" tIns="0" rIns="0" bIns="0" rtlCol="0" anchor="t"/>
          <a:lstStyle/>
          <a:p>
            <a:pPr algn="l" indent="0" marL="0">
              <a:lnSpc>
                <a:spcPts val="2600"/>
              </a:lnSpc>
              <a:buNone/>
            </a:pPr>
            <a:r>
              <a:rPr lang="en-US" sz="1600" dirty="0">
                <a:solidFill>
                  <a:srgbClr val="D6E5EF"/>
                </a:solidFill>
                <a:latin typeface="Roboto" pitchFamily="34" charset="0"/>
                <a:ea typeface="Roboto" pitchFamily="34" charset="-122"/>
                <a:cs typeface="Roboto" pitchFamily="34" charset="-120"/>
              </a:rPr>
              <a:t>Welcome to an innovative solution for academic research, designed to streamline the literature review process through the power of Artificial Intelligence and Machine Learning. This project introduces an automated system for fetching, ranking, clustering, and summarising research papers, transforming how students and researchers interact with vast amounts of information.</a:t>
            </a:r>
            <a:endParaRPr lang="en-US" sz="1600" dirty="0"/>
          </a:p>
        </p:txBody>
      </p:sp>
      <p:sp>
        <p:nvSpPr>
          <p:cNvPr id="5" name="Text 2"/>
          <p:cNvSpPr/>
          <p:nvPr/>
        </p:nvSpPr>
        <p:spPr>
          <a:xfrm>
            <a:off x="6217206" y="5722620"/>
            <a:ext cx="7682389" cy="1044178"/>
          </a:xfrm>
          <a:prstGeom prst="rect">
            <a:avLst/>
          </a:prstGeom>
          <a:noFill/>
          <a:ln/>
        </p:spPr>
        <p:txBody>
          <a:bodyPr wrap="square" lIns="0" tIns="0" rIns="0" bIns="0" rtlCol="0" anchor="t"/>
          <a:lstStyle/>
          <a:p>
            <a:pPr algn="l" indent="0" marL="0">
              <a:lnSpc>
                <a:spcPts val="4100"/>
              </a:lnSpc>
              <a:buNone/>
            </a:pPr>
            <a:r>
              <a:rPr lang="en-US" sz="3250" dirty="0">
                <a:solidFill>
                  <a:srgbClr val="76B9FF"/>
                </a:solidFill>
                <a:latin typeface="Roboto Slab" pitchFamily="34" charset="0"/>
                <a:ea typeface="Roboto Slab" pitchFamily="34" charset="-122"/>
                <a:cs typeface="Roboto Slab" pitchFamily="34" charset="-120"/>
              </a:rPr>
              <a:t>Automated Paper Fetching, Ranking, Clustering &amp; Summarisation</a:t>
            </a:r>
            <a:endParaRPr lang="en-US" sz="3250" dirty="0"/>
          </a:p>
        </p:txBody>
      </p:sp>
      <p:sp>
        <p:nvSpPr>
          <p:cNvPr id="6" name="Text 3"/>
          <p:cNvSpPr/>
          <p:nvPr/>
        </p:nvSpPr>
        <p:spPr>
          <a:xfrm>
            <a:off x="6217206" y="7079933"/>
            <a:ext cx="7682389" cy="334089"/>
          </a:xfrm>
          <a:prstGeom prst="rect">
            <a:avLst/>
          </a:prstGeom>
          <a:noFill/>
          <a:ln/>
        </p:spPr>
        <p:txBody>
          <a:bodyPr wrap="none" lIns="0" tIns="0" rIns="0" bIns="0" rtlCol="0" anchor="t"/>
          <a:lstStyle/>
          <a:p>
            <a:pPr algn="l" indent="0" marL="0">
              <a:lnSpc>
                <a:spcPts val="2600"/>
              </a:lnSpc>
              <a:buNone/>
            </a:pPr>
            <a:r>
              <a:rPr lang="en-US" sz="1600" dirty="0">
                <a:solidFill>
                  <a:srgbClr val="D6E5EF"/>
                </a:solidFill>
                <a:latin typeface="Roboto" pitchFamily="34" charset="0"/>
                <a:ea typeface="Roboto" pitchFamily="34" charset="-122"/>
                <a:cs typeface="Roboto" pitchFamily="34" charset="-120"/>
              </a:rPr>
              <a:t>Team 18: B.Tech 5th Semester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8510" y="360283"/>
            <a:ext cx="7323058" cy="409337"/>
          </a:xfrm>
          <a:prstGeom prst="rect">
            <a:avLst/>
          </a:prstGeom>
          <a:noFill/>
          <a:ln/>
        </p:spPr>
        <p:txBody>
          <a:bodyPr wrap="none" lIns="0" tIns="0" rIns="0" bIns="0" rtlCol="0" anchor="t"/>
          <a:lstStyle/>
          <a:p>
            <a:pPr algn="l" indent="0" marL="0">
              <a:lnSpc>
                <a:spcPts val="3200"/>
              </a:lnSpc>
              <a:buNone/>
            </a:pPr>
            <a:r>
              <a:rPr lang="en-US" sz="2550" dirty="0">
                <a:solidFill>
                  <a:srgbClr val="76B9FF"/>
                </a:solidFill>
                <a:latin typeface="Roboto Slab" pitchFamily="34" charset="0"/>
                <a:ea typeface="Roboto Slab" pitchFamily="34" charset="-122"/>
                <a:cs typeface="Roboto Slab" pitchFamily="34" charset="-120"/>
              </a:rPr>
              <a:t>Addressing the Challenges of Literature Review</a:t>
            </a:r>
            <a:endParaRPr lang="en-US" sz="2550" dirty="0"/>
          </a:p>
        </p:txBody>
      </p:sp>
      <p:sp>
        <p:nvSpPr>
          <p:cNvPr id="3" name="Text 1"/>
          <p:cNvSpPr/>
          <p:nvPr/>
        </p:nvSpPr>
        <p:spPr>
          <a:xfrm>
            <a:off x="458510" y="1097042"/>
            <a:ext cx="1817251" cy="204788"/>
          </a:xfrm>
          <a:prstGeom prst="rect">
            <a:avLst/>
          </a:prstGeom>
          <a:noFill/>
          <a:ln/>
        </p:spPr>
        <p:txBody>
          <a:bodyPr wrap="none" lIns="0" tIns="0" rIns="0" bIns="0" rtlCol="0" anchor="t"/>
          <a:lstStyle/>
          <a:p>
            <a:pPr algn="l" indent="0" marL="0">
              <a:lnSpc>
                <a:spcPts val="1600"/>
              </a:lnSpc>
              <a:buNone/>
            </a:pPr>
            <a:r>
              <a:rPr lang="en-US" sz="1250" dirty="0">
                <a:solidFill>
                  <a:srgbClr val="76B9FF"/>
                </a:solidFill>
                <a:latin typeface="Roboto Slab" pitchFamily="34" charset="0"/>
                <a:ea typeface="Roboto Slab" pitchFamily="34" charset="-122"/>
                <a:cs typeface="Roboto Slab" pitchFamily="34" charset="-120"/>
              </a:rPr>
              <a:t>The Problem Statement</a:t>
            </a:r>
            <a:endParaRPr lang="en-US" sz="1250" dirty="0"/>
          </a:p>
        </p:txBody>
      </p:sp>
      <p:sp>
        <p:nvSpPr>
          <p:cNvPr id="4" name="Text 2"/>
          <p:cNvSpPr/>
          <p:nvPr/>
        </p:nvSpPr>
        <p:spPr>
          <a:xfrm>
            <a:off x="458510" y="1432798"/>
            <a:ext cx="6696908"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Manual literature review is slow and inefficient</a:t>
            </a:r>
            <a:endParaRPr lang="en-US" sz="1000" dirty="0"/>
          </a:p>
        </p:txBody>
      </p:sp>
      <p:sp>
        <p:nvSpPr>
          <p:cNvPr id="5" name="Text 3"/>
          <p:cNvSpPr/>
          <p:nvPr/>
        </p:nvSpPr>
        <p:spPr>
          <a:xfrm>
            <a:off x="458510" y="1688187"/>
            <a:ext cx="6696908"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Difficulty in filtering relevant research papers from extensive databases</a:t>
            </a:r>
            <a:endParaRPr lang="en-US" sz="1000" dirty="0"/>
          </a:p>
        </p:txBody>
      </p:sp>
      <p:sp>
        <p:nvSpPr>
          <p:cNvPr id="6" name="Text 4"/>
          <p:cNvSpPr/>
          <p:nvPr/>
        </p:nvSpPr>
        <p:spPr>
          <a:xfrm>
            <a:off x="458510" y="1943576"/>
            <a:ext cx="6696908"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Lack of clear summaries and explicit connections between papers</a:t>
            </a:r>
            <a:endParaRPr lang="en-US" sz="1000" dirty="0"/>
          </a:p>
        </p:txBody>
      </p:sp>
      <p:sp>
        <p:nvSpPr>
          <p:cNvPr id="7" name="Text 5"/>
          <p:cNvSpPr/>
          <p:nvPr/>
        </p:nvSpPr>
        <p:spPr>
          <a:xfrm>
            <a:off x="458510" y="2198965"/>
            <a:ext cx="6696908"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Students spend hours on irrelevant PDFs</a:t>
            </a:r>
            <a:endParaRPr lang="en-US" sz="1000" dirty="0"/>
          </a:p>
        </p:txBody>
      </p:sp>
      <p:sp>
        <p:nvSpPr>
          <p:cNvPr id="8" name="Text 6"/>
          <p:cNvSpPr/>
          <p:nvPr/>
        </p:nvSpPr>
        <p:spPr>
          <a:xfrm>
            <a:off x="458510" y="2454354"/>
            <a:ext cx="6696908"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Teachers require structured summaries, not raw documents</a:t>
            </a:r>
            <a:endParaRPr lang="en-US" sz="1000" dirty="0"/>
          </a:p>
        </p:txBody>
      </p:sp>
      <p:pic>
        <p:nvPicPr>
          <p:cNvPr id="9" name="Image 0" descr="preencoded.png">    </p:cNvPr>
          <p:cNvPicPr>
            <a:picLocks noChangeAspect="1"/>
          </p:cNvPicPr>
          <p:nvPr/>
        </p:nvPicPr>
        <p:blipFill>
          <a:blip r:embed="rId1"/>
          <a:stretch>
            <a:fillRect/>
          </a:stretch>
        </p:blipFill>
        <p:spPr>
          <a:xfrm>
            <a:off x="7482602" y="1113473"/>
            <a:ext cx="6696908" cy="6696908"/>
          </a:xfrm>
          <a:prstGeom prst="rect">
            <a:avLst/>
          </a:prstGeom>
        </p:spPr>
      </p:pic>
      <p:sp>
        <p:nvSpPr>
          <p:cNvPr id="10" name="Text 7"/>
          <p:cNvSpPr/>
          <p:nvPr/>
        </p:nvSpPr>
        <p:spPr>
          <a:xfrm>
            <a:off x="458510" y="8154233"/>
            <a:ext cx="3339941" cy="204788"/>
          </a:xfrm>
          <a:prstGeom prst="rect">
            <a:avLst/>
          </a:prstGeom>
          <a:noFill/>
          <a:ln/>
        </p:spPr>
        <p:txBody>
          <a:bodyPr wrap="none" lIns="0" tIns="0" rIns="0" bIns="0" rtlCol="0" anchor="t"/>
          <a:lstStyle/>
          <a:p>
            <a:pPr algn="l" indent="0" marL="0">
              <a:lnSpc>
                <a:spcPts val="1600"/>
              </a:lnSpc>
              <a:buNone/>
            </a:pPr>
            <a:r>
              <a:rPr lang="en-US" sz="1250" dirty="0">
                <a:solidFill>
                  <a:srgbClr val="76B9FF"/>
                </a:solidFill>
                <a:latin typeface="Roboto Slab" pitchFamily="34" charset="0"/>
                <a:ea typeface="Roboto Slab" pitchFamily="34" charset="-122"/>
                <a:cs typeface="Roboto Slab" pitchFamily="34" charset="-120"/>
              </a:rPr>
              <a:t>Our Goal: An Automated, Intelligent System</a:t>
            </a:r>
            <a:endParaRPr lang="en-US" sz="1250" dirty="0"/>
          </a:p>
        </p:txBody>
      </p:sp>
      <p:sp>
        <p:nvSpPr>
          <p:cNvPr id="11" name="Text 8"/>
          <p:cNvSpPr/>
          <p:nvPr/>
        </p:nvSpPr>
        <p:spPr>
          <a:xfrm>
            <a:off x="458510" y="8555474"/>
            <a:ext cx="13713381"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Searches research papers efficiently by topic</a:t>
            </a:r>
            <a:endParaRPr lang="en-US" sz="1000" dirty="0"/>
          </a:p>
        </p:txBody>
      </p:sp>
      <p:sp>
        <p:nvSpPr>
          <p:cNvPr id="12" name="Text 9"/>
          <p:cNvSpPr/>
          <p:nvPr/>
        </p:nvSpPr>
        <p:spPr>
          <a:xfrm>
            <a:off x="458510" y="8810863"/>
            <a:ext cx="13713381"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Ranks papers using advanced ML embeddings</a:t>
            </a:r>
            <a:endParaRPr lang="en-US" sz="1000" dirty="0"/>
          </a:p>
        </p:txBody>
      </p:sp>
      <p:sp>
        <p:nvSpPr>
          <p:cNvPr id="13" name="Text 10"/>
          <p:cNvSpPr/>
          <p:nvPr/>
        </p:nvSpPr>
        <p:spPr>
          <a:xfrm>
            <a:off x="458510" y="9066252"/>
            <a:ext cx="13713381"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Performs automatic clustering for thematic grouping</a:t>
            </a:r>
            <a:endParaRPr lang="en-US" sz="1000" dirty="0"/>
          </a:p>
        </p:txBody>
      </p:sp>
      <p:sp>
        <p:nvSpPr>
          <p:cNvPr id="14" name="Text 11"/>
          <p:cNvSpPr/>
          <p:nvPr/>
        </p:nvSpPr>
        <p:spPr>
          <a:xfrm>
            <a:off x="458510" y="9321641"/>
            <a:ext cx="13713381"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Generates concise bullet-point relevance summaries</a:t>
            </a:r>
            <a:endParaRPr lang="en-US" sz="1000" dirty="0"/>
          </a:p>
        </p:txBody>
      </p:sp>
      <p:sp>
        <p:nvSpPr>
          <p:cNvPr id="15" name="Text 12"/>
          <p:cNvSpPr/>
          <p:nvPr/>
        </p:nvSpPr>
        <p:spPr>
          <a:xfrm>
            <a:off x="458510" y="9577030"/>
            <a:ext cx="13713381" cy="209550"/>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D6E5EF"/>
                </a:solidFill>
                <a:latin typeface="Roboto" pitchFamily="34" charset="0"/>
                <a:ea typeface="Roboto" pitchFamily="34" charset="-122"/>
                <a:cs typeface="Roboto" pitchFamily="34" charset="-120"/>
              </a:rPr>
              <a:t>Provides flexible export options (CSV / PDF)</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04228" y="1146215"/>
            <a:ext cx="7109579" cy="640913"/>
          </a:xfrm>
          <a:prstGeom prst="rect">
            <a:avLst/>
          </a:prstGeom>
          <a:noFill/>
          <a:ln/>
        </p:spPr>
        <p:txBody>
          <a:bodyPr wrap="none" lIns="0" tIns="0" rIns="0" bIns="0" rtlCol="0" anchor="t"/>
          <a:lstStyle/>
          <a:p>
            <a:pPr algn="l" indent="0" marL="0">
              <a:lnSpc>
                <a:spcPts val="5000"/>
              </a:lnSpc>
              <a:buNone/>
            </a:pPr>
            <a:r>
              <a:rPr lang="en-US" sz="4000" dirty="0">
                <a:solidFill>
                  <a:srgbClr val="76B9FF"/>
                </a:solidFill>
                <a:latin typeface="Roboto Slab" pitchFamily="34" charset="0"/>
                <a:ea typeface="Roboto Slab" pitchFamily="34" charset="-122"/>
                <a:cs typeface="Roboto Slab" pitchFamily="34" charset="-120"/>
              </a:rPr>
              <a:t>Our Robust Technology Stack</a:t>
            </a:r>
            <a:endParaRPr lang="en-US" sz="4000" dirty="0"/>
          </a:p>
        </p:txBody>
      </p:sp>
      <p:sp>
        <p:nvSpPr>
          <p:cNvPr id="4" name="Shape 1"/>
          <p:cNvSpPr/>
          <p:nvPr/>
        </p:nvSpPr>
        <p:spPr>
          <a:xfrm>
            <a:off x="6204228" y="2094786"/>
            <a:ext cx="7708344" cy="4988481"/>
          </a:xfrm>
          <a:prstGeom prst="roundRect">
            <a:avLst>
              <a:gd name="adj" fmla="val 617"/>
            </a:avLst>
          </a:prstGeom>
          <a:solidFill>
            <a:srgbClr val="3F4652"/>
          </a:solidFill>
          <a:ln/>
        </p:spPr>
      </p:sp>
      <p:sp>
        <p:nvSpPr>
          <p:cNvPr id="5" name="Shape 2"/>
          <p:cNvSpPr/>
          <p:nvPr/>
        </p:nvSpPr>
        <p:spPr>
          <a:xfrm>
            <a:off x="6204228" y="2094786"/>
            <a:ext cx="3854172" cy="3150513"/>
          </a:xfrm>
          <a:prstGeom prst="roundRect">
            <a:avLst>
              <a:gd name="adj" fmla="val 977"/>
            </a:avLst>
          </a:prstGeom>
          <a:solidFill>
            <a:srgbClr val="3F4652"/>
          </a:solidFill>
          <a:ln/>
        </p:spPr>
      </p:sp>
      <p:sp>
        <p:nvSpPr>
          <p:cNvPr id="6" name="Text 3"/>
          <p:cNvSpPr/>
          <p:nvPr/>
        </p:nvSpPr>
        <p:spPr>
          <a:xfrm>
            <a:off x="6409253" y="2299811"/>
            <a:ext cx="2564011" cy="320516"/>
          </a:xfrm>
          <a:prstGeom prst="rect">
            <a:avLst/>
          </a:prstGeom>
          <a:noFill/>
          <a:ln/>
        </p:spPr>
        <p:txBody>
          <a:bodyPr wrap="none" lIns="0" tIns="0" rIns="0" bIns="0" rtlCol="0" anchor="t"/>
          <a:lstStyle/>
          <a:p>
            <a:pPr algn="l" indent="0" marL="0">
              <a:lnSpc>
                <a:spcPts val="2500"/>
              </a:lnSpc>
              <a:buNone/>
            </a:pPr>
            <a:r>
              <a:rPr lang="en-US" sz="2000" dirty="0">
                <a:solidFill>
                  <a:srgbClr val="D6E5EF"/>
                </a:solidFill>
                <a:latin typeface="Roboto Slab" pitchFamily="34" charset="0"/>
                <a:ea typeface="Roboto Slab" pitchFamily="34" charset="-122"/>
                <a:cs typeface="Roboto Slab" pitchFamily="34" charset="-120"/>
              </a:rPr>
              <a:t>Frontend</a:t>
            </a:r>
            <a:endParaRPr lang="en-US" sz="2000" dirty="0"/>
          </a:p>
        </p:txBody>
      </p:sp>
      <p:sp>
        <p:nvSpPr>
          <p:cNvPr id="7" name="Text 4"/>
          <p:cNvSpPr/>
          <p:nvPr/>
        </p:nvSpPr>
        <p:spPr>
          <a:xfrm>
            <a:off x="6409253" y="2743319"/>
            <a:ext cx="3136344" cy="2296954"/>
          </a:xfrm>
          <a:prstGeom prst="rect">
            <a:avLst/>
          </a:prstGeom>
          <a:noFill/>
          <a:ln/>
        </p:spPr>
        <p:txBody>
          <a:bodyPr wrap="square" lIns="0" tIns="0" rIns="0" bIns="0" rtlCol="0" anchor="t"/>
          <a:lstStyle/>
          <a:p>
            <a:pPr algn="l" indent="0" marL="0">
              <a:lnSpc>
                <a:spcPts val="2550"/>
              </a:lnSpc>
              <a:buNone/>
            </a:pPr>
            <a:r>
              <a:rPr lang="en-US" sz="1600" dirty="0">
                <a:solidFill>
                  <a:srgbClr val="D6E5EF"/>
                </a:solidFill>
                <a:latin typeface="Roboto" pitchFamily="34" charset="0"/>
                <a:ea typeface="Roboto" pitchFamily="34" charset="-122"/>
                <a:cs typeface="Roboto" pitchFamily="34" charset="-120"/>
              </a:rPr>
              <a:t>Built with HTML, CSS (Tailwind) for a modern, responsive UI, leveraging JavaScript and Server-Sent Events (SSE) for real-time progress updates. Features clean, animated interface with intuitive cards, sliders, and buttons.</a:t>
            </a:r>
            <a:endParaRPr lang="en-US" sz="1600" dirty="0"/>
          </a:p>
        </p:txBody>
      </p:sp>
      <p:sp>
        <p:nvSpPr>
          <p:cNvPr id="8" name="Shape 5"/>
          <p:cNvSpPr/>
          <p:nvPr/>
        </p:nvSpPr>
        <p:spPr>
          <a:xfrm>
            <a:off x="10058400" y="2094786"/>
            <a:ext cx="3854172" cy="3150513"/>
          </a:xfrm>
          <a:prstGeom prst="rect">
            <a:avLst/>
          </a:prstGeom>
          <a:solidFill>
            <a:srgbClr val="3F4652"/>
          </a:solidFill>
          <a:ln/>
        </p:spPr>
      </p:sp>
      <p:sp>
        <p:nvSpPr>
          <p:cNvPr id="9" name="Shape 6"/>
          <p:cNvSpPr/>
          <p:nvPr/>
        </p:nvSpPr>
        <p:spPr>
          <a:xfrm>
            <a:off x="10058400" y="2094786"/>
            <a:ext cx="22860" cy="3150513"/>
          </a:xfrm>
          <a:prstGeom prst="roundRect">
            <a:avLst>
              <a:gd name="adj" fmla="val 134595"/>
            </a:avLst>
          </a:prstGeom>
          <a:solidFill>
            <a:srgbClr val="585F6B"/>
          </a:solidFill>
          <a:ln/>
        </p:spPr>
      </p:sp>
      <p:sp>
        <p:nvSpPr>
          <p:cNvPr id="10" name="Text 7"/>
          <p:cNvSpPr/>
          <p:nvPr/>
        </p:nvSpPr>
        <p:spPr>
          <a:xfrm>
            <a:off x="10571202" y="2299811"/>
            <a:ext cx="2564011" cy="320516"/>
          </a:xfrm>
          <a:prstGeom prst="rect">
            <a:avLst/>
          </a:prstGeom>
          <a:noFill/>
          <a:ln/>
        </p:spPr>
        <p:txBody>
          <a:bodyPr wrap="none" lIns="0" tIns="0" rIns="0" bIns="0" rtlCol="0" anchor="t"/>
          <a:lstStyle/>
          <a:p>
            <a:pPr algn="l" indent="0" marL="0">
              <a:lnSpc>
                <a:spcPts val="2500"/>
              </a:lnSpc>
              <a:buNone/>
            </a:pPr>
            <a:r>
              <a:rPr lang="en-US" sz="2000" dirty="0">
                <a:solidFill>
                  <a:srgbClr val="D6E5EF"/>
                </a:solidFill>
                <a:latin typeface="Roboto Slab" pitchFamily="34" charset="0"/>
                <a:ea typeface="Roboto Slab" pitchFamily="34" charset="-122"/>
                <a:cs typeface="Roboto Slab" pitchFamily="34" charset="-120"/>
              </a:rPr>
              <a:t>Backend</a:t>
            </a:r>
            <a:endParaRPr lang="en-US" sz="2000" dirty="0"/>
          </a:p>
        </p:txBody>
      </p:sp>
      <p:sp>
        <p:nvSpPr>
          <p:cNvPr id="11" name="Text 8"/>
          <p:cNvSpPr/>
          <p:nvPr/>
        </p:nvSpPr>
        <p:spPr>
          <a:xfrm>
            <a:off x="10571202" y="2743319"/>
            <a:ext cx="3136344" cy="1968817"/>
          </a:xfrm>
          <a:prstGeom prst="rect">
            <a:avLst/>
          </a:prstGeom>
          <a:noFill/>
          <a:ln/>
        </p:spPr>
        <p:txBody>
          <a:bodyPr wrap="square" lIns="0" tIns="0" rIns="0" bIns="0" rtlCol="0" anchor="t"/>
          <a:lstStyle/>
          <a:p>
            <a:pPr algn="l" indent="0" marL="0">
              <a:lnSpc>
                <a:spcPts val="2550"/>
              </a:lnSpc>
              <a:buNone/>
            </a:pPr>
            <a:r>
              <a:rPr lang="en-US" sz="1600" dirty="0">
                <a:solidFill>
                  <a:srgbClr val="D6E5EF"/>
                </a:solidFill>
                <a:latin typeface="Roboto" pitchFamily="34" charset="0"/>
                <a:ea typeface="Roboto" pitchFamily="34" charset="-122"/>
                <a:cs typeface="Roboto" pitchFamily="34" charset="-120"/>
              </a:rPr>
              <a:t>Powered by FastAPI (Python) for high-performance API operations, featuring async processing (asyncio) and CORS middleware for seamless frontend communication.</a:t>
            </a:r>
            <a:endParaRPr lang="en-US" sz="1600" dirty="0"/>
          </a:p>
        </p:txBody>
      </p:sp>
      <p:sp>
        <p:nvSpPr>
          <p:cNvPr id="12" name="Shape 9"/>
          <p:cNvSpPr/>
          <p:nvPr/>
        </p:nvSpPr>
        <p:spPr>
          <a:xfrm>
            <a:off x="9802058" y="3413581"/>
            <a:ext cx="512802" cy="512802"/>
          </a:xfrm>
          <a:prstGeom prst="roundRect">
            <a:avLst>
              <a:gd name="adj" fmla="val 6000"/>
            </a:avLst>
          </a:prstGeom>
          <a:solidFill>
            <a:srgbClr val="202733"/>
          </a:solidFill>
          <a:ln w="22860">
            <a:solidFill>
              <a:srgbClr val="585F6B"/>
            </a:solidFill>
            <a:prstDash val="solid"/>
          </a:ln>
        </p:spPr>
      </p:sp>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30289" y="3541812"/>
            <a:ext cx="256342" cy="256342"/>
          </a:xfrm>
          <a:prstGeom prst="rect">
            <a:avLst/>
          </a:prstGeom>
        </p:spPr>
      </p:pic>
      <p:sp>
        <p:nvSpPr>
          <p:cNvPr id="14" name="Shape 10"/>
          <p:cNvSpPr/>
          <p:nvPr/>
        </p:nvSpPr>
        <p:spPr>
          <a:xfrm>
            <a:off x="6204228" y="5245298"/>
            <a:ext cx="7708344" cy="1837968"/>
          </a:xfrm>
          <a:prstGeom prst="rect">
            <a:avLst/>
          </a:prstGeom>
          <a:solidFill>
            <a:srgbClr val="3F4652"/>
          </a:solidFill>
          <a:ln/>
        </p:spPr>
      </p:sp>
      <p:sp>
        <p:nvSpPr>
          <p:cNvPr id="15" name="Shape 11"/>
          <p:cNvSpPr/>
          <p:nvPr/>
        </p:nvSpPr>
        <p:spPr>
          <a:xfrm>
            <a:off x="6204228" y="5245298"/>
            <a:ext cx="7708344" cy="22860"/>
          </a:xfrm>
          <a:prstGeom prst="roundRect">
            <a:avLst>
              <a:gd name="adj" fmla="val 134595"/>
            </a:avLst>
          </a:prstGeom>
          <a:solidFill>
            <a:srgbClr val="585F6B"/>
          </a:solidFill>
          <a:ln/>
        </p:spPr>
      </p:sp>
      <p:sp>
        <p:nvSpPr>
          <p:cNvPr id="16" name="Text 12"/>
          <p:cNvSpPr/>
          <p:nvPr/>
        </p:nvSpPr>
        <p:spPr>
          <a:xfrm>
            <a:off x="6409253" y="5450324"/>
            <a:ext cx="2564011" cy="320516"/>
          </a:xfrm>
          <a:prstGeom prst="rect">
            <a:avLst/>
          </a:prstGeom>
          <a:noFill/>
          <a:ln/>
        </p:spPr>
        <p:txBody>
          <a:bodyPr wrap="none" lIns="0" tIns="0" rIns="0" bIns="0" rtlCol="0" anchor="t"/>
          <a:lstStyle/>
          <a:p>
            <a:pPr algn="l" indent="0" marL="0">
              <a:lnSpc>
                <a:spcPts val="2500"/>
              </a:lnSpc>
              <a:buNone/>
            </a:pPr>
            <a:r>
              <a:rPr lang="en-US" sz="2000" dirty="0">
                <a:solidFill>
                  <a:srgbClr val="D6E5EF"/>
                </a:solidFill>
                <a:latin typeface="Roboto Slab" pitchFamily="34" charset="0"/>
                <a:ea typeface="Roboto Slab" pitchFamily="34" charset="-122"/>
                <a:cs typeface="Roboto Slab" pitchFamily="34" charset="-120"/>
              </a:rPr>
              <a:t>Machine Learning</a:t>
            </a:r>
            <a:endParaRPr lang="en-US" sz="2000" dirty="0"/>
          </a:p>
        </p:txBody>
      </p:sp>
      <p:sp>
        <p:nvSpPr>
          <p:cNvPr id="17" name="Text 13"/>
          <p:cNvSpPr/>
          <p:nvPr/>
        </p:nvSpPr>
        <p:spPr>
          <a:xfrm>
            <a:off x="6409253" y="5893832"/>
            <a:ext cx="6990517" cy="984409"/>
          </a:xfrm>
          <a:prstGeom prst="rect">
            <a:avLst/>
          </a:prstGeom>
          <a:noFill/>
          <a:ln/>
        </p:spPr>
        <p:txBody>
          <a:bodyPr wrap="square" lIns="0" tIns="0" rIns="0" bIns="0" rtlCol="0" anchor="t"/>
          <a:lstStyle/>
          <a:p>
            <a:pPr algn="l" indent="0" marL="0">
              <a:lnSpc>
                <a:spcPts val="2550"/>
              </a:lnSpc>
              <a:buNone/>
            </a:pPr>
            <a:r>
              <a:rPr lang="en-US" sz="1600" dirty="0">
                <a:solidFill>
                  <a:srgbClr val="D6E5EF"/>
                </a:solidFill>
                <a:latin typeface="Roboto" pitchFamily="34" charset="0"/>
                <a:ea typeface="Roboto" pitchFamily="34" charset="-122"/>
                <a:cs typeface="Roboto" pitchFamily="34" charset="-120"/>
              </a:rPr>
              <a:t>Integrates SentenceTransformer (all-MiniLM-L6-v2) for text embeddings, FLAN-T5 base for summary generation, MiniBatchKMeans for clustering, TF-IDF for keyword extraction, and Cosine Similarity for relevance scoring.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6507" y="492204"/>
            <a:ext cx="9171384" cy="559356"/>
          </a:xfrm>
          <a:prstGeom prst="rect">
            <a:avLst/>
          </a:prstGeom>
          <a:noFill/>
          <a:ln/>
        </p:spPr>
        <p:txBody>
          <a:bodyPr wrap="none" lIns="0" tIns="0" rIns="0" bIns="0" rtlCol="0" anchor="t"/>
          <a:lstStyle/>
          <a:p>
            <a:pPr algn="l" indent="0" marL="0">
              <a:lnSpc>
                <a:spcPts val="4400"/>
              </a:lnSpc>
              <a:buNone/>
            </a:pPr>
            <a:r>
              <a:rPr lang="en-US" sz="3500" dirty="0">
                <a:solidFill>
                  <a:srgbClr val="76B9FF"/>
                </a:solidFill>
                <a:latin typeface="Roboto Slab" pitchFamily="34" charset="0"/>
                <a:ea typeface="Roboto Slab" pitchFamily="34" charset="-122"/>
                <a:cs typeface="Roboto Slab" pitchFamily="34" charset="-120"/>
              </a:rPr>
              <a:t>System Architecture: A Seamless Workflow</a:t>
            </a:r>
            <a:endParaRPr lang="en-US" sz="3500" dirty="0"/>
          </a:p>
        </p:txBody>
      </p:sp>
      <p:pic>
        <p:nvPicPr>
          <p:cNvPr id="3" name="Image 0" descr="preencoded.png">    </p:cNvPr>
          <p:cNvPicPr>
            <a:picLocks noChangeAspect="1"/>
          </p:cNvPicPr>
          <p:nvPr/>
        </p:nvPicPr>
        <p:blipFill>
          <a:blip r:embed="rId1"/>
          <a:stretch>
            <a:fillRect/>
          </a:stretch>
        </p:blipFill>
        <p:spPr>
          <a:xfrm>
            <a:off x="626507" y="1409462"/>
            <a:ext cx="536972" cy="1143000"/>
          </a:xfrm>
          <a:prstGeom prst="rect">
            <a:avLst/>
          </a:prstGeom>
        </p:spPr>
      </p:pic>
      <p:sp>
        <p:nvSpPr>
          <p:cNvPr id="4" name="Text 1"/>
          <p:cNvSpPr/>
          <p:nvPr/>
        </p:nvSpPr>
        <p:spPr>
          <a:xfrm>
            <a:off x="1342430" y="1588413"/>
            <a:ext cx="2237542" cy="279559"/>
          </a:xfrm>
          <a:prstGeom prst="rect">
            <a:avLst/>
          </a:prstGeom>
          <a:noFill/>
          <a:ln/>
        </p:spPr>
        <p:txBody>
          <a:bodyPr wrap="none" lIns="0" tIns="0" rIns="0" bIns="0" rtlCol="0" anchor="t"/>
          <a:lstStyle/>
          <a:p>
            <a:pPr algn="l" indent="0" marL="0">
              <a:lnSpc>
                <a:spcPts val="2200"/>
              </a:lnSpc>
              <a:buNone/>
            </a:pPr>
            <a:r>
              <a:rPr lang="en-US" sz="1750" dirty="0">
                <a:solidFill>
                  <a:srgbClr val="D6E5EF"/>
                </a:solidFill>
                <a:latin typeface="Roboto Slab" pitchFamily="34" charset="0"/>
                <a:ea typeface="Roboto Slab" pitchFamily="34" charset="-122"/>
                <a:cs typeface="Roboto Slab" pitchFamily="34" charset="-120"/>
              </a:rPr>
              <a:t>1. User Input</a:t>
            </a:r>
            <a:endParaRPr lang="en-US" sz="1750" dirty="0"/>
          </a:p>
        </p:txBody>
      </p:sp>
      <p:sp>
        <p:nvSpPr>
          <p:cNvPr id="5" name="Text 2"/>
          <p:cNvSpPr/>
          <p:nvPr/>
        </p:nvSpPr>
        <p:spPr>
          <a:xfrm>
            <a:off x="1342430" y="1975366"/>
            <a:ext cx="12661463" cy="286226"/>
          </a:xfrm>
          <a:prstGeom prst="rect">
            <a:avLst/>
          </a:prstGeom>
          <a:noFill/>
          <a:ln/>
        </p:spPr>
        <p:txBody>
          <a:bodyPr wrap="none" lIns="0" tIns="0" rIns="0" bIns="0" rtlCol="0" anchor="t"/>
          <a:lstStyle/>
          <a:p>
            <a:pPr algn="l" indent="0" marL="0">
              <a:lnSpc>
                <a:spcPts val="2250"/>
              </a:lnSpc>
              <a:buNone/>
            </a:pPr>
            <a:r>
              <a:rPr lang="en-US" sz="1400" dirty="0">
                <a:solidFill>
                  <a:srgbClr val="D6E5EF"/>
                </a:solidFill>
                <a:latin typeface="Roboto" pitchFamily="34" charset="0"/>
                <a:ea typeface="Roboto" pitchFamily="34" charset="-122"/>
                <a:cs typeface="Roboto" pitchFamily="34" charset="-120"/>
              </a:rPr>
              <a:t>The user initiates the process by inputting a research topic.</a:t>
            </a:r>
            <a:endParaRPr lang="en-US" sz="1400" dirty="0"/>
          </a:p>
        </p:txBody>
      </p:sp>
      <p:pic>
        <p:nvPicPr>
          <p:cNvPr id="6" name="Image 1" descr="preencoded.png">    </p:cNvPr>
          <p:cNvPicPr>
            <a:picLocks noChangeAspect="1"/>
          </p:cNvPicPr>
          <p:nvPr/>
        </p:nvPicPr>
        <p:blipFill>
          <a:blip r:embed="rId2"/>
          <a:stretch>
            <a:fillRect/>
          </a:stretch>
        </p:blipFill>
        <p:spPr>
          <a:xfrm>
            <a:off x="894993" y="2662357"/>
            <a:ext cx="536972" cy="1143000"/>
          </a:xfrm>
          <a:prstGeom prst="rect">
            <a:avLst/>
          </a:prstGeom>
        </p:spPr>
      </p:pic>
      <p:sp>
        <p:nvSpPr>
          <p:cNvPr id="7" name="Text 3"/>
          <p:cNvSpPr/>
          <p:nvPr/>
        </p:nvSpPr>
        <p:spPr>
          <a:xfrm>
            <a:off x="1610916" y="2841308"/>
            <a:ext cx="2296954" cy="279559"/>
          </a:xfrm>
          <a:prstGeom prst="rect">
            <a:avLst/>
          </a:prstGeom>
          <a:noFill/>
          <a:ln/>
        </p:spPr>
        <p:txBody>
          <a:bodyPr wrap="none" lIns="0" tIns="0" rIns="0" bIns="0" rtlCol="0" anchor="t"/>
          <a:lstStyle/>
          <a:p>
            <a:pPr algn="l" indent="0" marL="0">
              <a:lnSpc>
                <a:spcPts val="2200"/>
              </a:lnSpc>
              <a:buNone/>
            </a:pPr>
            <a:r>
              <a:rPr lang="en-US" sz="1750" dirty="0">
                <a:solidFill>
                  <a:srgbClr val="D6E5EF"/>
                </a:solidFill>
                <a:latin typeface="Roboto Slab" pitchFamily="34" charset="0"/>
                <a:ea typeface="Roboto Slab" pitchFamily="34" charset="-122"/>
                <a:cs typeface="Roboto Slab" pitchFamily="34" charset="-120"/>
              </a:rPr>
              <a:t>2. Request to Backend</a:t>
            </a:r>
            <a:endParaRPr lang="en-US" sz="1750" dirty="0"/>
          </a:p>
        </p:txBody>
      </p:sp>
      <p:sp>
        <p:nvSpPr>
          <p:cNvPr id="8" name="Text 4"/>
          <p:cNvSpPr/>
          <p:nvPr/>
        </p:nvSpPr>
        <p:spPr>
          <a:xfrm>
            <a:off x="1610916" y="3228261"/>
            <a:ext cx="12392978" cy="293846"/>
          </a:xfrm>
          <a:prstGeom prst="rect">
            <a:avLst/>
          </a:prstGeom>
          <a:noFill/>
          <a:ln/>
        </p:spPr>
        <p:txBody>
          <a:bodyPr wrap="none" lIns="0" tIns="0" rIns="0" bIns="0" rtlCol="0" anchor="t"/>
          <a:lstStyle/>
          <a:p>
            <a:pPr algn="l" indent="0" marL="0">
              <a:lnSpc>
                <a:spcPts val="2250"/>
              </a:lnSpc>
              <a:buNone/>
            </a:pPr>
            <a:r>
              <a:rPr lang="en-US" sz="1400" dirty="0">
                <a:solidFill>
                  <a:srgbClr val="D6E5EF"/>
                </a:solidFill>
                <a:latin typeface="Roboto" pitchFamily="34" charset="0"/>
                <a:ea typeface="Roboto" pitchFamily="34" charset="-122"/>
                <a:cs typeface="Roboto" pitchFamily="34" charset="-120"/>
              </a:rPr>
              <a:t>The frontend dispatches a POST request to the </a:t>
            </a:r>
            <a:pPr algn="l" indent="0" marL="0">
              <a:lnSpc>
                <a:spcPts val="2250"/>
              </a:lnSpc>
              <a:buNone/>
            </a:pPr>
            <a:r>
              <a:rPr lang="en-US" sz="1400" dirty="0">
                <a:solidFill>
                  <a:srgbClr val="D6E5EF"/>
                </a:solidFill>
                <a:highlight>
                  <a:srgbClr val="2D3440"/>
                </a:highlight>
                <a:latin typeface="Consolas" pitchFamily="34" charset="0"/>
                <a:ea typeface="Consolas" pitchFamily="34" charset="-122"/>
                <a:cs typeface="Consolas" pitchFamily="34" charset="-120"/>
              </a:rPr>
              <a:t>/run</a:t>
            </a:r>
            <a:pPr algn="l" indent="0" marL="0">
              <a:lnSpc>
                <a:spcPts val="2250"/>
              </a:lnSpc>
              <a:buNone/>
            </a:pPr>
            <a:r>
              <a:rPr lang="en-US" sz="1400" dirty="0">
                <a:solidFill>
                  <a:srgbClr val="D6E5EF"/>
                </a:solidFill>
                <a:latin typeface="Roboto" pitchFamily="34" charset="0"/>
                <a:ea typeface="Roboto" pitchFamily="34" charset="-122"/>
                <a:cs typeface="Roboto" pitchFamily="34" charset="-120"/>
              </a:rPr>
              <a:t> endpoint.</a:t>
            </a:r>
            <a:endParaRPr lang="en-US" sz="1400" dirty="0"/>
          </a:p>
        </p:txBody>
      </p:sp>
      <p:pic>
        <p:nvPicPr>
          <p:cNvPr id="9" name="Image 2" descr="preencoded.png">    </p:cNvPr>
          <p:cNvPicPr>
            <a:picLocks noChangeAspect="1"/>
          </p:cNvPicPr>
          <p:nvPr/>
        </p:nvPicPr>
        <p:blipFill>
          <a:blip r:embed="rId3"/>
          <a:stretch>
            <a:fillRect/>
          </a:stretch>
        </p:blipFill>
        <p:spPr>
          <a:xfrm>
            <a:off x="1163479" y="3915251"/>
            <a:ext cx="536972" cy="1143000"/>
          </a:xfrm>
          <a:prstGeom prst="rect">
            <a:avLst/>
          </a:prstGeom>
        </p:spPr>
      </p:pic>
      <p:sp>
        <p:nvSpPr>
          <p:cNvPr id="10" name="Text 5"/>
          <p:cNvSpPr/>
          <p:nvPr/>
        </p:nvSpPr>
        <p:spPr>
          <a:xfrm>
            <a:off x="1879402" y="4094202"/>
            <a:ext cx="2453521" cy="279559"/>
          </a:xfrm>
          <a:prstGeom prst="rect">
            <a:avLst/>
          </a:prstGeom>
          <a:noFill/>
          <a:ln/>
        </p:spPr>
        <p:txBody>
          <a:bodyPr wrap="none" lIns="0" tIns="0" rIns="0" bIns="0" rtlCol="0" anchor="t"/>
          <a:lstStyle/>
          <a:p>
            <a:pPr algn="l" indent="0" marL="0">
              <a:lnSpc>
                <a:spcPts val="2200"/>
              </a:lnSpc>
              <a:buNone/>
            </a:pPr>
            <a:r>
              <a:rPr lang="en-US" sz="1750" dirty="0">
                <a:solidFill>
                  <a:srgbClr val="D6E5EF"/>
                </a:solidFill>
                <a:latin typeface="Roboto Slab" pitchFamily="34" charset="0"/>
                <a:ea typeface="Roboto Slab" pitchFamily="34" charset="-122"/>
                <a:cs typeface="Roboto Slab" pitchFamily="34" charset="-120"/>
              </a:rPr>
              <a:t>3. Async Job Execution</a:t>
            </a:r>
            <a:endParaRPr lang="en-US" sz="1750" dirty="0"/>
          </a:p>
        </p:txBody>
      </p:sp>
      <p:sp>
        <p:nvSpPr>
          <p:cNvPr id="11" name="Text 6"/>
          <p:cNvSpPr/>
          <p:nvPr/>
        </p:nvSpPr>
        <p:spPr>
          <a:xfrm>
            <a:off x="1879402" y="4481155"/>
            <a:ext cx="12124492" cy="572453"/>
          </a:xfrm>
          <a:prstGeom prst="rect">
            <a:avLst/>
          </a:prstGeom>
          <a:noFill/>
          <a:ln/>
        </p:spPr>
        <p:txBody>
          <a:bodyPr wrap="square" lIns="0" tIns="0" rIns="0" bIns="0" rtlCol="0" anchor="t"/>
          <a:lstStyle/>
          <a:p>
            <a:pPr algn="l" indent="0" marL="0">
              <a:lnSpc>
                <a:spcPts val="2250"/>
              </a:lnSpc>
              <a:buNone/>
            </a:pPr>
            <a:r>
              <a:rPr lang="en-US" sz="1400" dirty="0">
                <a:solidFill>
                  <a:srgbClr val="D6E5EF"/>
                </a:solidFill>
                <a:latin typeface="Roboto" pitchFamily="34" charset="0"/>
                <a:ea typeface="Roboto" pitchFamily="34" charset="-122"/>
                <a:cs typeface="Roboto" pitchFamily="34" charset="-120"/>
              </a:rPr>
              <a:t>The backend commences an asynchronous job: fetching papers from arXiv API, computing embeddings, ranking by similarity, clustering, and generating summaries.</a:t>
            </a:r>
            <a:endParaRPr lang="en-US" sz="1400" dirty="0"/>
          </a:p>
        </p:txBody>
      </p:sp>
      <p:pic>
        <p:nvPicPr>
          <p:cNvPr id="12" name="Image 3" descr="preencoded.png">    </p:cNvPr>
          <p:cNvPicPr>
            <a:picLocks noChangeAspect="1"/>
          </p:cNvPicPr>
          <p:nvPr/>
        </p:nvPicPr>
        <p:blipFill>
          <a:blip r:embed="rId4"/>
          <a:stretch>
            <a:fillRect/>
          </a:stretch>
        </p:blipFill>
        <p:spPr>
          <a:xfrm>
            <a:off x="1431965" y="5411510"/>
            <a:ext cx="536972" cy="1143000"/>
          </a:xfrm>
          <a:prstGeom prst="rect">
            <a:avLst/>
          </a:prstGeom>
        </p:spPr>
      </p:pic>
      <p:sp>
        <p:nvSpPr>
          <p:cNvPr id="13" name="Text 7"/>
          <p:cNvSpPr/>
          <p:nvPr/>
        </p:nvSpPr>
        <p:spPr>
          <a:xfrm>
            <a:off x="2147888" y="5590461"/>
            <a:ext cx="2255163" cy="279559"/>
          </a:xfrm>
          <a:prstGeom prst="rect">
            <a:avLst/>
          </a:prstGeom>
          <a:noFill/>
          <a:ln/>
        </p:spPr>
        <p:txBody>
          <a:bodyPr wrap="none" lIns="0" tIns="0" rIns="0" bIns="0" rtlCol="0" anchor="t"/>
          <a:lstStyle/>
          <a:p>
            <a:pPr algn="l" indent="0" marL="0">
              <a:lnSpc>
                <a:spcPts val="2200"/>
              </a:lnSpc>
              <a:buNone/>
            </a:pPr>
            <a:r>
              <a:rPr lang="en-US" sz="1750" dirty="0">
                <a:solidFill>
                  <a:srgbClr val="D6E5EF"/>
                </a:solidFill>
                <a:latin typeface="Roboto Slab" pitchFamily="34" charset="0"/>
                <a:ea typeface="Roboto Slab" pitchFamily="34" charset="-122"/>
                <a:cs typeface="Roboto Slab" pitchFamily="34" charset="-120"/>
              </a:rPr>
              <a:t>4. Real-Time Updates</a:t>
            </a:r>
            <a:endParaRPr lang="en-US" sz="1750" dirty="0"/>
          </a:p>
        </p:txBody>
      </p:sp>
      <p:sp>
        <p:nvSpPr>
          <p:cNvPr id="14" name="Text 8"/>
          <p:cNvSpPr/>
          <p:nvPr/>
        </p:nvSpPr>
        <p:spPr>
          <a:xfrm>
            <a:off x="2147888" y="5977414"/>
            <a:ext cx="11856006" cy="293846"/>
          </a:xfrm>
          <a:prstGeom prst="rect">
            <a:avLst/>
          </a:prstGeom>
          <a:noFill/>
          <a:ln/>
        </p:spPr>
        <p:txBody>
          <a:bodyPr wrap="none" lIns="0" tIns="0" rIns="0" bIns="0" rtlCol="0" anchor="t"/>
          <a:lstStyle/>
          <a:p>
            <a:pPr algn="l" indent="0" marL="0">
              <a:lnSpc>
                <a:spcPts val="2250"/>
              </a:lnSpc>
              <a:buNone/>
            </a:pPr>
            <a:r>
              <a:rPr lang="en-US" sz="1400" dirty="0">
                <a:solidFill>
                  <a:srgbClr val="D6E5EF"/>
                </a:solidFill>
                <a:latin typeface="Roboto" pitchFamily="34" charset="0"/>
                <a:ea typeface="Roboto" pitchFamily="34" charset="-122"/>
                <a:cs typeface="Roboto" pitchFamily="34" charset="-120"/>
              </a:rPr>
              <a:t>The frontend listens via SSE to </a:t>
            </a:r>
            <a:pPr algn="l" indent="0" marL="0">
              <a:lnSpc>
                <a:spcPts val="2250"/>
              </a:lnSpc>
              <a:buNone/>
            </a:pPr>
            <a:r>
              <a:rPr lang="en-US" sz="1400" dirty="0">
                <a:solidFill>
                  <a:srgbClr val="D6E5EF"/>
                </a:solidFill>
                <a:highlight>
                  <a:srgbClr val="2D3440"/>
                </a:highlight>
                <a:latin typeface="Consolas" pitchFamily="34" charset="0"/>
                <a:ea typeface="Consolas" pitchFamily="34" charset="-122"/>
                <a:cs typeface="Consolas" pitchFamily="34" charset="-120"/>
              </a:rPr>
              <a:t>/events/{task_id}</a:t>
            </a:r>
            <a:pPr algn="l" indent="0" marL="0">
              <a:lnSpc>
                <a:spcPts val="2250"/>
              </a:lnSpc>
              <a:buNone/>
            </a:pPr>
            <a:r>
              <a:rPr lang="en-US" sz="1400" dirty="0">
                <a:solidFill>
                  <a:srgbClr val="D6E5EF"/>
                </a:solidFill>
                <a:latin typeface="Roboto" pitchFamily="34" charset="0"/>
                <a:ea typeface="Roboto" pitchFamily="34" charset="-122"/>
                <a:cs typeface="Roboto" pitchFamily="34" charset="-120"/>
              </a:rPr>
              <a:t>, displaying real-time progress, percentage completion, and live partial top papers.</a:t>
            </a:r>
            <a:endParaRPr lang="en-US" sz="1400" dirty="0"/>
          </a:p>
        </p:txBody>
      </p:sp>
      <p:pic>
        <p:nvPicPr>
          <p:cNvPr id="15" name="Image 4" descr="preencoded.png">    </p:cNvPr>
          <p:cNvPicPr>
            <a:picLocks noChangeAspect="1"/>
          </p:cNvPicPr>
          <p:nvPr/>
        </p:nvPicPr>
        <p:blipFill>
          <a:blip r:embed="rId5"/>
          <a:stretch>
            <a:fillRect/>
          </a:stretch>
        </p:blipFill>
        <p:spPr>
          <a:xfrm>
            <a:off x="1163479" y="6664404"/>
            <a:ext cx="536972" cy="1143000"/>
          </a:xfrm>
          <a:prstGeom prst="rect">
            <a:avLst/>
          </a:prstGeom>
        </p:spPr>
      </p:pic>
      <p:sp>
        <p:nvSpPr>
          <p:cNvPr id="16" name="Text 9"/>
          <p:cNvSpPr/>
          <p:nvPr/>
        </p:nvSpPr>
        <p:spPr>
          <a:xfrm>
            <a:off x="1879402" y="6843355"/>
            <a:ext cx="2237542" cy="279559"/>
          </a:xfrm>
          <a:prstGeom prst="rect">
            <a:avLst/>
          </a:prstGeom>
          <a:noFill/>
          <a:ln/>
        </p:spPr>
        <p:txBody>
          <a:bodyPr wrap="none" lIns="0" tIns="0" rIns="0" bIns="0" rtlCol="0" anchor="t"/>
          <a:lstStyle/>
          <a:p>
            <a:pPr algn="l" indent="0" marL="0">
              <a:lnSpc>
                <a:spcPts val="2200"/>
              </a:lnSpc>
              <a:buNone/>
            </a:pPr>
            <a:r>
              <a:rPr lang="en-US" sz="1750" dirty="0">
                <a:solidFill>
                  <a:srgbClr val="D6E5EF"/>
                </a:solidFill>
                <a:latin typeface="Roboto Slab" pitchFamily="34" charset="0"/>
                <a:ea typeface="Roboto Slab" pitchFamily="34" charset="-122"/>
                <a:cs typeface="Roboto Slab" pitchFamily="34" charset="-120"/>
              </a:rPr>
              <a:t>5. Final Results</a:t>
            </a:r>
            <a:endParaRPr lang="en-US" sz="1750" dirty="0"/>
          </a:p>
        </p:txBody>
      </p:sp>
      <p:sp>
        <p:nvSpPr>
          <p:cNvPr id="17" name="Text 10"/>
          <p:cNvSpPr/>
          <p:nvPr/>
        </p:nvSpPr>
        <p:spPr>
          <a:xfrm>
            <a:off x="1879402" y="7230308"/>
            <a:ext cx="12124492" cy="286226"/>
          </a:xfrm>
          <a:prstGeom prst="rect">
            <a:avLst/>
          </a:prstGeom>
          <a:noFill/>
          <a:ln/>
        </p:spPr>
        <p:txBody>
          <a:bodyPr wrap="none" lIns="0" tIns="0" rIns="0" bIns="0" rtlCol="0" anchor="t"/>
          <a:lstStyle/>
          <a:p>
            <a:pPr algn="l" indent="0" marL="0">
              <a:lnSpc>
                <a:spcPts val="2250"/>
              </a:lnSpc>
              <a:buNone/>
            </a:pPr>
            <a:r>
              <a:rPr lang="en-US" sz="1400" dirty="0">
                <a:solidFill>
                  <a:srgbClr val="D6E5EF"/>
                </a:solidFill>
                <a:latin typeface="Roboto" pitchFamily="34" charset="0"/>
                <a:ea typeface="Roboto" pitchFamily="34" charset="-122"/>
                <a:cs typeface="Roboto" pitchFamily="34" charset="-120"/>
              </a:rPr>
              <a:t>The comprehensive results are rendered as interactive cards, with options to export as PDF or CSV.</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7357" y="595074"/>
            <a:ext cx="9345573" cy="676275"/>
          </a:xfrm>
          <a:prstGeom prst="rect">
            <a:avLst/>
          </a:prstGeom>
          <a:noFill/>
          <a:ln/>
        </p:spPr>
        <p:txBody>
          <a:bodyPr wrap="none" lIns="0" tIns="0" rIns="0" bIns="0" rtlCol="0" anchor="t"/>
          <a:lstStyle/>
          <a:p>
            <a:pPr algn="l" indent="0" marL="0">
              <a:lnSpc>
                <a:spcPts val="5300"/>
              </a:lnSpc>
              <a:buNone/>
            </a:pPr>
            <a:r>
              <a:rPr lang="en-US" sz="4250" dirty="0">
                <a:solidFill>
                  <a:srgbClr val="76B9FF"/>
                </a:solidFill>
                <a:latin typeface="Roboto Slab" pitchFamily="34" charset="0"/>
                <a:ea typeface="Roboto Slab" pitchFamily="34" charset="-122"/>
                <a:cs typeface="Roboto Slab" pitchFamily="34" charset="-120"/>
              </a:rPr>
              <a:t>Key Features for Enhanced Research</a:t>
            </a:r>
            <a:endParaRPr lang="en-US" sz="42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7357" y="1704142"/>
            <a:ext cx="649129" cy="649129"/>
          </a:xfrm>
          <a:prstGeom prst="rect">
            <a:avLst/>
          </a:prstGeom>
        </p:spPr>
      </p:pic>
      <p:sp>
        <p:nvSpPr>
          <p:cNvPr id="4" name="Text 1"/>
          <p:cNvSpPr/>
          <p:nvPr/>
        </p:nvSpPr>
        <p:spPr>
          <a:xfrm>
            <a:off x="1676995" y="1886664"/>
            <a:ext cx="4015264" cy="338138"/>
          </a:xfrm>
          <a:prstGeom prst="rect">
            <a:avLst/>
          </a:prstGeom>
          <a:noFill/>
          <a:ln/>
        </p:spPr>
        <p:txBody>
          <a:bodyPr wrap="none" lIns="0" tIns="0" rIns="0" bIns="0" rtlCol="0" anchor="t"/>
          <a:lstStyle/>
          <a:p>
            <a:pPr algn="l" indent="0" marL="0">
              <a:lnSpc>
                <a:spcPts val="2650"/>
              </a:lnSpc>
              <a:buNone/>
            </a:pPr>
            <a:r>
              <a:rPr lang="en-US" sz="2100" dirty="0">
                <a:solidFill>
                  <a:srgbClr val="D6E5EF"/>
                </a:solidFill>
                <a:latin typeface="Roboto Slab" pitchFamily="34" charset="0"/>
                <a:ea typeface="Roboto Slab" pitchFamily="34" charset="-122"/>
                <a:cs typeface="Roboto Slab" pitchFamily="34" charset="-120"/>
              </a:rPr>
              <a:t>Smart Research Paper Fetching</a:t>
            </a:r>
            <a:endParaRPr lang="en-US" sz="2100" dirty="0"/>
          </a:p>
        </p:txBody>
      </p:sp>
      <p:sp>
        <p:nvSpPr>
          <p:cNvPr id="5" name="Text 2"/>
          <p:cNvSpPr/>
          <p:nvPr/>
        </p:nvSpPr>
        <p:spPr>
          <a:xfrm>
            <a:off x="1676995" y="2354580"/>
            <a:ext cx="5502950" cy="692467"/>
          </a:xfrm>
          <a:prstGeom prst="rect">
            <a:avLst/>
          </a:prstGeom>
          <a:noFill/>
          <a:ln/>
        </p:spPr>
        <p:txBody>
          <a:bodyPr wrap="square" lIns="0" tIns="0" rIns="0" bIns="0" rtlCol="0" anchor="t"/>
          <a:lstStyle/>
          <a:p>
            <a:pPr algn="l" indent="0" marL="0">
              <a:lnSpc>
                <a:spcPts val="2700"/>
              </a:lnSpc>
              <a:buNone/>
            </a:pPr>
            <a:r>
              <a:rPr lang="en-US" sz="1700" dirty="0">
                <a:solidFill>
                  <a:srgbClr val="D6E5EF"/>
                </a:solidFill>
                <a:latin typeface="Roboto" pitchFamily="34" charset="0"/>
                <a:ea typeface="Roboto" pitchFamily="34" charset="-122"/>
                <a:cs typeface="Roboto" pitchFamily="34" charset="-120"/>
              </a:rPr>
              <a:t>Utilises the arXiv API to retrieve cleaned titles, abstracts, authors, and publication dates.</a:t>
            </a:r>
            <a:endParaRPr lang="en-US" sz="17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0455" y="1704142"/>
            <a:ext cx="649129" cy="649129"/>
          </a:xfrm>
          <a:prstGeom prst="rect">
            <a:avLst/>
          </a:prstGeom>
        </p:spPr>
      </p:pic>
      <p:sp>
        <p:nvSpPr>
          <p:cNvPr id="7" name="Text 3"/>
          <p:cNvSpPr/>
          <p:nvPr/>
        </p:nvSpPr>
        <p:spPr>
          <a:xfrm>
            <a:off x="8370094" y="1886664"/>
            <a:ext cx="2705100" cy="338138"/>
          </a:xfrm>
          <a:prstGeom prst="rect">
            <a:avLst/>
          </a:prstGeom>
          <a:noFill/>
          <a:ln/>
        </p:spPr>
        <p:txBody>
          <a:bodyPr wrap="none" lIns="0" tIns="0" rIns="0" bIns="0" rtlCol="0" anchor="t"/>
          <a:lstStyle/>
          <a:p>
            <a:pPr algn="l" indent="0" marL="0">
              <a:lnSpc>
                <a:spcPts val="2650"/>
              </a:lnSpc>
              <a:buNone/>
            </a:pPr>
            <a:r>
              <a:rPr lang="en-US" sz="2100" dirty="0">
                <a:solidFill>
                  <a:srgbClr val="D6E5EF"/>
                </a:solidFill>
                <a:latin typeface="Roboto Slab" pitchFamily="34" charset="0"/>
                <a:ea typeface="Roboto Slab" pitchFamily="34" charset="-122"/>
                <a:cs typeface="Roboto Slab" pitchFamily="34" charset="-120"/>
              </a:rPr>
              <a:t>Relevance Ranking</a:t>
            </a:r>
            <a:endParaRPr lang="en-US" sz="2100" dirty="0"/>
          </a:p>
        </p:txBody>
      </p:sp>
      <p:sp>
        <p:nvSpPr>
          <p:cNvPr id="8" name="Text 4"/>
          <p:cNvSpPr/>
          <p:nvPr/>
        </p:nvSpPr>
        <p:spPr>
          <a:xfrm>
            <a:off x="8370094" y="2354580"/>
            <a:ext cx="5502950" cy="1038701"/>
          </a:xfrm>
          <a:prstGeom prst="rect">
            <a:avLst/>
          </a:prstGeom>
          <a:noFill/>
          <a:ln/>
        </p:spPr>
        <p:txBody>
          <a:bodyPr wrap="square" lIns="0" tIns="0" rIns="0" bIns="0" rtlCol="0" anchor="t"/>
          <a:lstStyle/>
          <a:p>
            <a:pPr algn="l" indent="0" marL="0">
              <a:lnSpc>
                <a:spcPts val="2700"/>
              </a:lnSpc>
              <a:buNone/>
            </a:pPr>
            <a:r>
              <a:rPr lang="en-US" sz="1700" dirty="0">
                <a:solidFill>
                  <a:srgbClr val="D6E5EF"/>
                </a:solidFill>
                <a:latin typeface="Roboto" pitchFamily="34" charset="0"/>
                <a:ea typeface="Roboto" pitchFamily="34" charset="-122"/>
                <a:cs typeface="Roboto" pitchFamily="34" charset="-120"/>
              </a:rPr>
              <a:t>Converts paper abstracts and topics into embeddings, then applies cosine similarity for precise relevance scoring.</a:t>
            </a:r>
            <a:endParaRPr lang="en-US" sz="17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7357" y="3826073"/>
            <a:ext cx="649129" cy="649129"/>
          </a:xfrm>
          <a:prstGeom prst="rect">
            <a:avLst/>
          </a:prstGeom>
        </p:spPr>
      </p:pic>
      <p:sp>
        <p:nvSpPr>
          <p:cNvPr id="10" name="Text 5"/>
          <p:cNvSpPr/>
          <p:nvPr/>
        </p:nvSpPr>
        <p:spPr>
          <a:xfrm>
            <a:off x="1676995" y="4008596"/>
            <a:ext cx="2718792" cy="338138"/>
          </a:xfrm>
          <a:prstGeom prst="rect">
            <a:avLst/>
          </a:prstGeom>
          <a:noFill/>
          <a:ln/>
        </p:spPr>
        <p:txBody>
          <a:bodyPr wrap="none" lIns="0" tIns="0" rIns="0" bIns="0" rtlCol="0" anchor="t"/>
          <a:lstStyle/>
          <a:p>
            <a:pPr algn="l" indent="0" marL="0">
              <a:lnSpc>
                <a:spcPts val="2650"/>
              </a:lnSpc>
              <a:buNone/>
            </a:pPr>
            <a:r>
              <a:rPr lang="en-US" sz="2100" dirty="0">
                <a:solidFill>
                  <a:srgbClr val="D6E5EF"/>
                </a:solidFill>
                <a:latin typeface="Roboto Slab" pitchFamily="34" charset="0"/>
                <a:ea typeface="Roboto Slab" pitchFamily="34" charset="-122"/>
                <a:cs typeface="Roboto Slab" pitchFamily="34" charset="-120"/>
              </a:rPr>
              <a:t>Automatic Clustering</a:t>
            </a:r>
            <a:endParaRPr lang="en-US" sz="2100" dirty="0"/>
          </a:p>
        </p:txBody>
      </p:sp>
      <p:sp>
        <p:nvSpPr>
          <p:cNvPr id="11" name="Text 6"/>
          <p:cNvSpPr/>
          <p:nvPr/>
        </p:nvSpPr>
        <p:spPr>
          <a:xfrm>
            <a:off x="1676995" y="4476512"/>
            <a:ext cx="5502950" cy="1038701"/>
          </a:xfrm>
          <a:prstGeom prst="rect">
            <a:avLst/>
          </a:prstGeom>
          <a:noFill/>
          <a:ln/>
        </p:spPr>
        <p:txBody>
          <a:bodyPr wrap="square" lIns="0" tIns="0" rIns="0" bIns="0" rtlCol="0" anchor="t"/>
          <a:lstStyle/>
          <a:p>
            <a:pPr algn="l" indent="0" marL="0">
              <a:lnSpc>
                <a:spcPts val="2700"/>
              </a:lnSpc>
              <a:buNone/>
            </a:pPr>
            <a:r>
              <a:rPr lang="en-US" sz="1700" dirty="0">
                <a:solidFill>
                  <a:srgbClr val="D6E5EF"/>
                </a:solidFill>
                <a:latin typeface="Roboto" pitchFamily="34" charset="0"/>
                <a:ea typeface="Roboto" pitchFamily="34" charset="-122"/>
                <a:cs typeface="Roboto" pitchFamily="34" charset="-120"/>
              </a:rPr>
              <a:t>Groups papers based on content similarity, automatically determining K clusters and extracting keywords using TF-IDF.</a:t>
            </a:r>
            <a:endParaRPr lang="en-US" sz="17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0455" y="3826073"/>
            <a:ext cx="649129" cy="649129"/>
          </a:xfrm>
          <a:prstGeom prst="rect">
            <a:avLst/>
          </a:prstGeom>
        </p:spPr>
      </p:pic>
      <p:sp>
        <p:nvSpPr>
          <p:cNvPr id="13" name="Text 7"/>
          <p:cNvSpPr/>
          <p:nvPr/>
        </p:nvSpPr>
        <p:spPr>
          <a:xfrm>
            <a:off x="8370094" y="4008596"/>
            <a:ext cx="2705100" cy="338138"/>
          </a:xfrm>
          <a:prstGeom prst="rect">
            <a:avLst/>
          </a:prstGeom>
          <a:noFill/>
          <a:ln/>
        </p:spPr>
        <p:txBody>
          <a:bodyPr wrap="none" lIns="0" tIns="0" rIns="0" bIns="0" rtlCol="0" anchor="t"/>
          <a:lstStyle/>
          <a:p>
            <a:pPr algn="l" indent="0" marL="0">
              <a:lnSpc>
                <a:spcPts val="2650"/>
              </a:lnSpc>
              <a:buNone/>
            </a:pPr>
            <a:r>
              <a:rPr lang="en-US" sz="2100" dirty="0">
                <a:solidFill>
                  <a:srgbClr val="D6E5EF"/>
                </a:solidFill>
                <a:latin typeface="Roboto Slab" pitchFamily="34" charset="0"/>
                <a:ea typeface="Roboto Slab" pitchFamily="34" charset="-122"/>
                <a:cs typeface="Roboto Slab" pitchFamily="34" charset="-120"/>
              </a:rPr>
              <a:t>AI Summaries</a:t>
            </a:r>
            <a:endParaRPr lang="en-US" sz="2100" dirty="0"/>
          </a:p>
        </p:txBody>
      </p:sp>
      <p:sp>
        <p:nvSpPr>
          <p:cNvPr id="14" name="Text 8"/>
          <p:cNvSpPr/>
          <p:nvPr/>
        </p:nvSpPr>
        <p:spPr>
          <a:xfrm>
            <a:off x="8370094" y="4476512"/>
            <a:ext cx="5502950" cy="1038701"/>
          </a:xfrm>
          <a:prstGeom prst="rect">
            <a:avLst/>
          </a:prstGeom>
          <a:noFill/>
          <a:ln/>
        </p:spPr>
        <p:txBody>
          <a:bodyPr wrap="square" lIns="0" tIns="0" rIns="0" bIns="0" rtlCol="0" anchor="t"/>
          <a:lstStyle/>
          <a:p>
            <a:pPr algn="l" indent="0" marL="0">
              <a:lnSpc>
                <a:spcPts val="2700"/>
              </a:lnSpc>
              <a:buNone/>
            </a:pPr>
            <a:r>
              <a:rPr lang="en-US" sz="1700" dirty="0">
                <a:solidFill>
                  <a:srgbClr val="D6E5EF"/>
                </a:solidFill>
                <a:latin typeface="Roboto" pitchFamily="34" charset="0"/>
                <a:ea typeface="Roboto" pitchFamily="34" charset="-122"/>
                <a:cs typeface="Roboto" pitchFamily="34" charset="-120"/>
              </a:rPr>
              <a:t>Generates comprehensive cluster summaries and per-paper "Why relevant?" bullet points using FLAN-T5 for accuracy and conciseness.</a:t>
            </a:r>
            <a:endParaRPr lang="en-US" sz="17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7357" y="5948005"/>
            <a:ext cx="649129" cy="649129"/>
          </a:xfrm>
          <a:prstGeom prst="rect">
            <a:avLst/>
          </a:prstGeom>
        </p:spPr>
      </p:pic>
      <p:sp>
        <p:nvSpPr>
          <p:cNvPr id="16" name="Text 9"/>
          <p:cNvSpPr/>
          <p:nvPr/>
        </p:nvSpPr>
        <p:spPr>
          <a:xfrm>
            <a:off x="1676995" y="6130528"/>
            <a:ext cx="2860358" cy="338138"/>
          </a:xfrm>
          <a:prstGeom prst="rect">
            <a:avLst/>
          </a:prstGeom>
          <a:noFill/>
          <a:ln/>
        </p:spPr>
        <p:txBody>
          <a:bodyPr wrap="none" lIns="0" tIns="0" rIns="0" bIns="0" rtlCol="0" anchor="t"/>
          <a:lstStyle/>
          <a:p>
            <a:pPr algn="l" indent="0" marL="0">
              <a:lnSpc>
                <a:spcPts val="2650"/>
              </a:lnSpc>
              <a:buNone/>
            </a:pPr>
            <a:r>
              <a:rPr lang="en-US" sz="2100" dirty="0">
                <a:solidFill>
                  <a:srgbClr val="D6E5EF"/>
                </a:solidFill>
                <a:latin typeface="Roboto Slab" pitchFamily="34" charset="0"/>
                <a:ea typeface="Roboto Slab" pitchFamily="34" charset="-122"/>
                <a:cs typeface="Roboto Slab" pitchFamily="34" charset="-120"/>
              </a:rPr>
              <a:t>Real-Time Progress UI</a:t>
            </a:r>
            <a:endParaRPr lang="en-US" sz="2100" dirty="0"/>
          </a:p>
        </p:txBody>
      </p:sp>
      <p:sp>
        <p:nvSpPr>
          <p:cNvPr id="17" name="Text 10"/>
          <p:cNvSpPr/>
          <p:nvPr/>
        </p:nvSpPr>
        <p:spPr>
          <a:xfrm>
            <a:off x="1676995" y="6598444"/>
            <a:ext cx="5502950" cy="1038701"/>
          </a:xfrm>
          <a:prstGeom prst="rect">
            <a:avLst/>
          </a:prstGeom>
          <a:noFill/>
          <a:ln/>
        </p:spPr>
        <p:txBody>
          <a:bodyPr wrap="square" lIns="0" tIns="0" rIns="0" bIns="0" rtlCol="0" anchor="t"/>
          <a:lstStyle/>
          <a:p>
            <a:pPr algn="l" indent="0" marL="0">
              <a:lnSpc>
                <a:spcPts val="2700"/>
              </a:lnSpc>
              <a:buNone/>
            </a:pPr>
            <a:r>
              <a:rPr lang="en-US" sz="1700" dirty="0">
                <a:solidFill>
                  <a:srgbClr val="D6E5EF"/>
                </a:solidFill>
                <a:latin typeface="Roboto" pitchFamily="34" charset="0"/>
                <a:ea typeface="Roboto" pitchFamily="34" charset="-122"/>
                <a:cs typeface="Roboto" pitchFamily="34" charset="-120"/>
              </a:rPr>
              <a:t>Provides live updates on stages (fetching, embedding, clustering, summarising) with a progress bar and ETA calculation.</a:t>
            </a:r>
            <a:endParaRPr lang="en-US" sz="17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50455" y="5948005"/>
            <a:ext cx="649129" cy="649129"/>
          </a:xfrm>
          <a:prstGeom prst="rect">
            <a:avLst/>
          </a:prstGeom>
        </p:spPr>
      </p:pic>
      <p:sp>
        <p:nvSpPr>
          <p:cNvPr id="19" name="Text 11"/>
          <p:cNvSpPr/>
          <p:nvPr/>
        </p:nvSpPr>
        <p:spPr>
          <a:xfrm>
            <a:off x="8370094" y="6130528"/>
            <a:ext cx="2705100" cy="338138"/>
          </a:xfrm>
          <a:prstGeom prst="rect">
            <a:avLst/>
          </a:prstGeom>
          <a:noFill/>
          <a:ln/>
        </p:spPr>
        <p:txBody>
          <a:bodyPr wrap="none" lIns="0" tIns="0" rIns="0" bIns="0" rtlCol="0" anchor="t"/>
          <a:lstStyle/>
          <a:p>
            <a:pPr algn="l" indent="0" marL="0">
              <a:lnSpc>
                <a:spcPts val="2650"/>
              </a:lnSpc>
              <a:buNone/>
            </a:pPr>
            <a:r>
              <a:rPr lang="en-US" sz="2100" dirty="0">
                <a:solidFill>
                  <a:srgbClr val="D6E5EF"/>
                </a:solidFill>
                <a:latin typeface="Roboto Slab" pitchFamily="34" charset="0"/>
                <a:ea typeface="Roboto Slab" pitchFamily="34" charset="-122"/>
                <a:cs typeface="Roboto Slab" pitchFamily="34" charset="-120"/>
              </a:rPr>
              <a:t>Export Options</a:t>
            </a:r>
            <a:endParaRPr lang="en-US" sz="2100" dirty="0"/>
          </a:p>
        </p:txBody>
      </p:sp>
      <p:sp>
        <p:nvSpPr>
          <p:cNvPr id="20" name="Text 12"/>
          <p:cNvSpPr/>
          <p:nvPr/>
        </p:nvSpPr>
        <p:spPr>
          <a:xfrm>
            <a:off x="8370094" y="6598444"/>
            <a:ext cx="5502950" cy="1038701"/>
          </a:xfrm>
          <a:prstGeom prst="rect">
            <a:avLst/>
          </a:prstGeom>
          <a:noFill/>
          <a:ln/>
        </p:spPr>
        <p:txBody>
          <a:bodyPr wrap="square" lIns="0" tIns="0" rIns="0" bIns="0" rtlCol="0" anchor="t"/>
          <a:lstStyle/>
          <a:p>
            <a:pPr algn="l" indent="0" marL="0">
              <a:lnSpc>
                <a:spcPts val="2700"/>
              </a:lnSpc>
              <a:buNone/>
            </a:pPr>
            <a:r>
              <a:rPr lang="en-US" sz="1700" dirty="0">
                <a:solidFill>
                  <a:srgbClr val="D6E5EF"/>
                </a:solidFill>
                <a:latin typeface="Roboto" pitchFamily="34" charset="0"/>
                <a:ea typeface="Roboto" pitchFamily="34" charset="-122"/>
                <a:cs typeface="Roboto" pitchFamily="34" charset="-120"/>
              </a:rPr>
              <a:t>Offers flexible export capabilities for CSV and PDF formats (powered by ReportLab) for easy sharing and archival.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2093" y="433864"/>
            <a:ext cx="6949083" cy="493038"/>
          </a:xfrm>
          <a:prstGeom prst="rect">
            <a:avLst/>
          </a:prstGeom>
          <a:noFill/>
          <a:ln/>
        </p:spPr>
        <p:txBody>
          <a:bodyPr wrap="none" lIns="0" tIns="0" rIns="0" bIns="0" rtlCol="0" anchor="t"/>
          <a:lstStyle/>
          <a:p>
            <a:pPr algn="l" indent="0" marL="0">
              <a:lnSpc>
                <a:spcPts val="3850"/>
              </a:lnSpc>
              <a:buNone/>
            </a:pPr>
            <a:r>
              <a:rPr lang="en-US" sz="3100" dirty="0">
                <a:solidFill>
                  <a:srgbClr val="76B9FF"/>
                </a:solidFill>
                <a:latin typeface="Roboto Slab" pitchFamily="34" charset="0"/>
                <a:ea typeface="Roboto Slab" pitchFamily="34" charset="-122"/>
                <a:cs typeface="Roboto Slab" pitchFamily="34" charset="-120"/>
              </a:rPr>
              <a:t>Intuitive User Interface (UI) Overview</a:t>
            </a:r>
            <a:endParaRPr lang="en-US" sz="3100" dirty="0"/>
          </a:p>
        </p:txBody>
      </p:sp>
      <p:pic>
        <p:nvPicPr>
          <p:cNvPr id="3" name="Image 0" descr="preencoded.png">    </p:cNvPr>
          <p:cNvPicPr>
            <a:picLocks noChangeAspect="1"/>
          </p:cNvPicPr>
          <p:nvPr/>
        </p:nvPicPr>
        <p:blipFill>
          <a:blip r:embed="rId1"/>
          <a:stretch>
            <a:fillRect/>
          </a:stretch>
        </p:blipFill>
        <p:spPr>
          <a:xfrm>
            <a:off x="552093" y="1340882"/>
            <a:ext cx="7961709" cy="7961709"/>
          </a:xfrm>
          <a:prstGeom prst="rect">
            <a:avLst/>
          </a:prstGeom>
        </p:spPr>
      </p:pic>
      <p:sp>
        <p:nvSpPr>
          <p:cNvPr id="4" name="Text 1"/>
          <p:cNvSpPr/>
          <p:nvPr/>
        </p:nvSpPr>
        <p:spPr>
          <a:xfrm>
            <a:off x="8906232" y="1321237"/>
            <a:ext cx="1972032" cy="246459"/>
          </a:xfrm>
          <a:prstGeom prst="rect">
            <a:avLst/>
          </a:prstGeom>
          <a:noFill/>
          <a:ln/>
        </p:spPr>
        <p:txBody>
          <a:bodyPr wrap="none" lIns="0" tIns="0" rIns="0" bIns="0" rtlCol="0" anchor="t"/>
          <a:lstStyle/>
          <a:p>
            <a:pPr algn="l" indent="0" marL="0">
              <a:lnSpc>
                <a:spcPts val="1900"/>
              </a:lnSpc>
              <a:buNone/>
            </a:pPr>
            <a:r>
              <a:rPr lang="en-US" sz="1550" dirty="0">
                <a:solidFill>
                  <a:srgbClr val="76B9FF"/>
                </a:solidFill>
                <a:latin typeface="Roboto Slab" pitchFamily="34" charset="0"/>
                <a:ea typeface="Roboto Slab" pitchFamily="34" charset="-122"/>
                <a:cs typeface="Roboto Slab" pitchFamily="34" charset="-120"/>
              </a:rPr>
              <a:t>Modern UI Elements</a:t>
            </a:r>
            <a:endParaRPr lang="en-US" sz="1550" dirty="0"/>
          </a:p>
        </p:txBody>
      </p:sp>
      <p:sp>
        <p:nvSpPr>
          <p:cNvPr id="5" name="Text 2"/>
          <p:cNvSpPr/>
          <p:nvPr/>
        </p:nvSpPr>
        <p:spPr>
          <a:xfrm>
            <a:off x="8906232" y="1725454"/>
            <a:ext cx="5179576" cy="252413"/>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D6E5EF"/>
                </a:solidFill>
                <a:latin typeface="Roboto" pitchFamily="34" charset="0"/>
                <a:ea typeface="Roboto" pitchFamily="34" charset="-122"/>
                <a:cs typeface="Roboto" pitchFamily="34" charset="-120"/>
              </a:rPr>
              <a:t>TailwindCSS-based layout for aesthetic appeal</a:t>
            </a:r>
            <a:endParaRPr lang="en-US" sz="1200" dirty="0"/>
          </a:p>
        </p:txBody>
      </p:sp>
      <p:sp>
        <p:nvSpPr>
          <p:cNvPr id="6" name="Text 3"/>
          <p:cNvSpPr/>
          <p:nvPr/>
        </p:nvSpPr>
        <p:spPr>
          <a:xfrm>
            <a:off x="8906232" y="2032992"/>
            <a:ext cx="5179576" cy="252413"/>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D6E5EF"/>
                </a:solidFill>
                <a:latin typeface="Roboto" pitchFamily="34" charset="0"/>
                <a:ea typeface="Roboto" pitchFamily="34" charset="-122"/>
                <a:cs typeface="Roboto" pitchFamily="34" charset="-120"/>
              </a:rPr>
              <a:t>Left sidebar for convenient controls and navigation</a:t>
            </a:r>
            <a:endParaRPr lang="en-US" sz="1200" dirty="0"/>
          </a:p>
        </p:txBody>
      </p:sp>
      <p:sp>
        <p:nvSpPr>
          <p:cNvPr id="7" name="Text 4"/>
          <p:cNvSpPr/>
          <p:nvPr/>
        </p:nvSpPr>
        <p:spPr>
          <a:xfrm>
            <a:off x="8906232" y="2340531"/>
            <a:ext cx="5179576" cy="252413"/>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D6E5EF"/>
                </a:solidFill>
                <a:latin typeface="Roboto" pitchFamily="34" charset="0"/>
                <a:ea typeface="Roboto" pitchFamily="34" charset="-122"/>
                <a:cs typeface="Roboto" pitchFamily="34" charset="-120"/>
              </a:rPr>
              <a:t>Interactive sliders for paper count and top-N summaries</a:t>
            </a:r>
            <a:endParaRPr lang="en-US" sz="1200" dirty="0"/>
          </a:p>
        </p:txBody>
      </p:sp>
      <p:sp>
        <p:nvSpPr>
          <p:cNvPr id="8" name="Text 5"/>
          <p:cNvSpPr/>
          <p:nvPr/>
        </p:nvSpPr>
        <p:spPr>
          <a:xfrm>
            <a:off x="8906232" y="2648069"/>
            <a:ext cx="5179576" cy="252413"/>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D6E5EF"/>
                </a:solidFill>
                <a:latin typeface="Roboto" pitchFamily="34" charset="0"/>
                <a:ea typeface="Roboto" pitchFamily="34" charset="-122"/>
                <a:cs typeface="Roboto" pitchFamily="34" charset="-120"/>
              </a:rPr>
              <a:t>Dynamic cards for each paper with expandable bullet points</a:t>
            </a:r>
            <a:endParaRPr lang="en-US" sz="1200" dirty="0"/>
          </a:p>
        </p:txBody>
      </p:sp>
      <p:sp>
        <p:nvSpPr>
          <p:cNvPr id="9" name="Text 6"/>
          <p:cNvSpPr/>
          <p:nvPr/>
        </p:nvSpPr>
        <p:spPr>
          <a:xfrm>
            <a:off x="8906232" y="2955608"/>
            <a:ext cx="5179576" cy="252413"/>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D6E5EF"/>
                </a:solidFill>
                <a:latin typeface="Roboto" pitchFamily="34" charset="0"/>
                <a:ea typeface="Roboto" pitchFamily="34" charset="-122"/>
                <a:cs typeface="Roboto" pitchFamily="34" charset="-120"/>
              </a:rPr>
              <a:t>Scrollable results panel for efficient browsing</a:t>
            </a:r>
            <a:endParaRPr lang="en-US" sz="1200" dirty="0"/>
          </a:p>
        </p:txBody>
      </p:sp>
      <p:sp>
        <p:nvSpPr>
          <p:cNvPr id="10" name="Text 7"/>
          <p:cNvSpPr/>
          <p:nvPr/>
        </p:nvSpPr>
        <p:spPr>
          <a:xfrm>
            <a:off x="8906232" y="3263146"/>
            <a:ext cx="5179576" cy="252413"/>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D6E5EF"/>
                </a:solidFill>
                <a:latin typeface="Roboto" pitchFamily="34" charset="0"/>
                <a:ea typeface="Roboto" pitchFamily="34" charset="-122"/>
                <a:cs typeface="Roboto" pitchFamily="34" charset="-120"/>
              </a:rPr>
              <a:t>Real-time, mid-screen progress bar for continuous feedback</a:t>
            </a:r>
            <a:endParaRPr lang="en-US" sz="1200" dirty="0"/>
          </a:p>
        </p:txBody>
      </p:sp>
      <p:sp>
        <p:nvSpPr>
          <p:cNvPr id="11" name="Text 8"/>
          <p:cNvSpPr/>
          <p:nvPr/>
        </p:nvSpPr>
        <p:spPr>
          <a:xfrm>
            <a:off x="8906232" y="3673316"/>
            <a:ext cx="1972032" cy="246459"/>
          </a:xfrm>
          <a:prstGeom prst="rect">
            <a:avLst/>
          </a:prstGeom>
          <a:noFill/>
          <a:ln/>
        </p:spPr>
        <p:txBody>
          <a:bodyPr wrap="none" lIns="0" tIns="0" rIns="0" bIns="0" rtlCol="0" anchor="t"/>
          <a:lstStyle/>
          <a:p>
            <a:pPr algn="l" indent="0" marL="0">
              <a:lnSpc>
                <a:spcPts val="1900"/>
              </a:lnSpc>
              <a:buNone/>
            </a:pPr>
            <a:r>
              <a:rPr lang="en-US" sz="1550" dirty="0">
                <a:solidFill>
                  <a:srgbClr val="76B9FF"/>
                </a:solidFill>
                <a:latin typeface="Roboto Slab" pitchFamily="34" charset="0"/>
                <a:ea typeface="Roboto Slab" pitchFamily="34" charset="-122"/>
                <a:cs typeface="Roboto Slab" pitchFamily="34" charset="-120"/>
              </a:rPr>
              <a:t>Why This Matters</a:t>
            </a:r>
            <a:endParaRPr lang="en-US" sz="1550" dirty="0"/>
          </a:p>
        </p:txBody>
      </p:sp>
      <p:sp>
        <p:nvSpPr>
          <p:cNvPr id="12" name="Text 9"/>
          <p:cNvSpPr/>
          <p:nvPr/>
        </p:nvSpPr>
        <p:spPr>
          <a:xfrm>
            <a:off x="8906232" y="4077533"/>
            <a:ext cx="5179576" cy="504825"/>
          </a:xfrm>
          <a:prstGeom prst="rect">
            <a:avLst/>
          </a:prstGeom>
          <a:noFill/>
          <a:ln/>
        </p:spPr>
        <p:txBody>
          <a:bodyPr wrap="square" lIns="0" tIns="0" rIns="0" bIns="0" rtlCol="0" anchor="t"/>
          <a:lstStyle/>
          <a:p>
            <a:pPr algn="l" indent="0" marL="0">
              <a:lnSpc>
                <a:spcPts val="1950"/>
              </a:lnSpc>
              <a:buNone/>
            </a:pPr>
            <a:r>
              <a:rPr lang="en-US" sz="1200" dirty="0">
                <a:solidFill>
                  <a:srgbClr val="D6E5EF"/>
                </a:solidFill>
                <a:latin typeface="Roboto" pitchFamily="34" charset="0"/>
                <a:ea typeface="Roboto" pitchFamily="34" charset="-122"/>
                <a:cs typeface="Roboto" pitchFamily="34" charset="-120"/>
              </a:rPr>
              <a:t>The UI is designed to be teacher-friendly, offering smooth interactions and a professional appearance, making demonstrations effortless.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7339"/>
          </a:xfrm>
          <a:prstGeom prst="rect">
            <a:avLst/>
          </a:prstGeom>
        </p:spPr>
      </p:pic>
      <p:sp>
        <p:nvSpPr>
          <p:cNvPr id="3" name="Text 0"/>
          <p:cNvSpPr/>
          <p:nvPr/>
        </p:nvSpPr>
        <p:spPr>
          <a:xfrm>
            <a:off x="6084570" y="470059"/>
            <a:ext cx="5462468" cy="534114"/>
          </a:xfrm>
          <a:prstGeom prst="rect">
            <a:avLst/>
          </a:prstGeom>
          <a:noFill/>
          <a:ln/>
        </p:spPr>
        <p:txBody>
          <a:bodyPr wrap="none" lIns="0" tIns="0" rIns="0" bIns="0" rtlCol="0" anchor="t"/>
          <a:lstStyle/>
          <a:p>
            <a:pPr algn="l" indent="0" marL="0">
              <a:lnSpc>
                <a:spcPts val="4200"/>
              </a:lnSpc>
              <a:buNone/>
            </a:pPr>
            <a:r>
              <a:rPr lang="en-US" sz="3350" dirty="0">
                <a:solidFill>
                  <a:srgbClr val="76B9FF"/>
                </a:solidFill>
                <a:latin typeface="Roboto Slab" pitchFamily="34" charset="0"/>
                <a:ea typeface="Roboto Slab" pitchFamily="34" charset="-122"/>
                <a:cs typeface="Roboto Slab" pitchFamily="34" charset="-120"/>
              </a:rPr>
              <a:t>Results and Future Outlook</a:t>
            </a:r>
            <a:endParaRPr lang="en-US" sz="3350" dirty="0"/>
          </a:p>
        </p:txBody>
      </p:sp>
      <p:sp>
        <p:nvSpPr>
          <p:cNvPr id="4" name="Shape 1"/>
          <p:cNvSpPr/>
          <p:nvPr/>
        </p:nvSpPr>
        <p:spPr>
          <a:xfrm>
            <a:off x="6084570" y="1260515"/>
            <a:ext cx="7947660" cy="2534483"/>
          </a:xfrm>
          <a:prstGeom prst="roundRect">
            <a:avLst>
              <a:gd name="adj" fmla="val 1012"/>
            </a:avLst>
          </a:prstGeom>
          <a:solidFill>
            <a:srgbClr val="202733"/>
          </a:solidFill>
          <a:ln w="22860">
            <a:solidFill>
              <a:srgbClr val="585F6B"/>
            </a:solidFill>
            <a:prstDash val="solid"/>
          </a:ln>
        </p:spPr>
      </p:sp>
      <p:pic>
        <p:nvPicPr>
          <p:cNvPr id="5" name="Image 1" descr="preencoded.png">    </p:cNvPr>
          <p:cNvPicPr>
            <a:picLocks noChangeAspect="1"/>
          </p:cNvPicPr>
          <p:nvPr/>
        </p:nvPicPr>
        <p:blipFill>
          <a:blip r:embed="rId2"/>
          <a:stretch>
            <a:fillRect/>
          </a:stretch>
        </p:blipFill>
        <p:spPr>
          <a:xfrm>
            <a:off x="6004917" y="1180862"/>
            <a:ext cx="205026" cy="205026"/>
          </a:xfrm>
          <a:prstGeom prst="rect">
            <a:avLst/>
          </a:prstGeom>
        </p:spPr>
      </p:pic>
      <p:pic>
        <p:nvPicPr>
          <p:cNvPr id="6" name="Image 2" descr="preencoded.png">    </p:cNvPr>
          <p:cNvPicPr>
            <a:picLocks noChangeAspect="1"/>
          </p:cNvPicPr>
          <p:nvPr/>
        </p:nvPicPr>
        <p:blipFill>
          <a:blip r:embed="rId3"/>
          <a:stretch>
            <a:fillRect/>
          </a:stretch>
        </p:blipFill>
        <p:spPr>
          <a:xfrm>
            <a:off x="13906857" y="3669625"/>
            <a:ext cx="205026" cy="205026"/>
          </a:xfrm>
          <a:prstGeom prst="rect">
            <a:avLst/>
          </a:prstGeom>
        </p:spPr>
      </p:pic>
      <p:sp>
        <p:nvSpPr>
          <p:cNvPr id="7" name="Text 2"/>
          <p:cNvSpPr/>
          <p:nvPr/>
        </p:nvSpPr>
        <p:spPr>
          <a:xfrm>
            <a:off x="6363772" y="1539716"/>
            <a:ext cx="2136577" cy="267057"/>
          </a:xfrm>
          <a:prstGeom prst="rect">
            <a:avLst/>
          </a:prstGeom>
          <a:noFill/>
          <a:ln/>
        </p:spPr>
        <p:txBody>
          <a:bodyPr wrap="none" lIns="0" tIns="0" rIns="0" bIns="0" rtlCol="0" anchor="t"/>
          <a:lstStyle/>
          <a:p>
            <a:pPr algn="l" indent="0" marL="0">
              <a:lnSpc>
                <a:spcPts val="2100"/>
              </a:lnSpc>
              <a:buNone/>
            </a:pPr>
            <a:r>
              <a:rPr lang="en-US" sz="1650" dirty="0">
                <a:solidFill>
                  <a:srgbClr val="D6E5EF"/>
                </a:solidFill>
                <a:latin typeface="Roboto Slab" pitchFamily="34" charset="0"/>
                <a:ea typeface="Roboto Slab" pitchFamily="34" charset="-122"/>
                <a:cs typeface="Roboto Slab" pitchFamily="34" charset="-120"/>
              </a:rPr>
              <a:t>Outputs Generated</a:t>
            </a:r>
            <a:endParaRPr lang="en-US" sz="1650" dirty="0"/>
          </a:p>
        </p:txBody>
      </p:sp>
      <p:sp>
        <p:nvSpPr>
          <p:cNvPr id="8" name="Text 3"/>
          <p:cNvSpPr/>
          <p:nvPr/>
        </p:nvSpPr>
        <p:spPr>
          <a:xfrm>
            <a:off x="6363772" y="1909286"/>
            <a:ext cx="7389257"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Ranked papers with detailed relevance percentages</a:t>
            </a:r>
            <a:endParaRPr lang="en-US" sz="1300" dirty="0"/>
          </a:p>
        </p:txBody>
      </p:sp>
      <p:sp>
        <p:nvSpPr>
          <p:cNvPr id="9" name="Text 4"/>
          <p:cNvSpPr/>
          <p:nvPr/>
        </p:nvSpPr>
        <p:spPr>
          <a:xfrm>
            <a:off x="6363772" y="2242542"/>
            <a:ext cx="7389257"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Clearly defined cluster groups (2–6 clusters)</a:t>
            </a:r>
            <a:endParaRPr lang="en-US" sz="1300" dirty="0"/>
          </a:p>
        </p:txBody>
      </p:sp>
      <p:sp>
        <p:nvSpPr>
          <p:cNvPr id="10" name="Text 5"/>
          <p:cNvSpPr/>
          <p:nvPr/>
        </p:nvSpPr>
        <p:spPr>
          <a:xfrm>
            <a:off x="6363772" y="2575798"/>
            <a:ext cx="7389257"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Concise cluster summaries (90–120 words)</a:t>
            </a:r>
            <a:endParaRPr lang="en-US" sz="1300" dirty="0"/>
          </a:p>
        </p:txBody>
      </p:sp>
      <p:sp>
        <p:nvSpPr>
          <p:cNvPr id="11" name="Text 6"/>
          <p:cNvSpPr/>
          <p:nvPr/>
        </p:nvSpPr>
        <p:spPr>
          <a:xfrm>
            <a:off x="6363772" y="2909054"/>
            <a:ext cx="7389257"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Per-paper bullet points highlighting 3 key reasons for relevance</a:t>
            </a:r>
            <a:endParaRPr lang="en-US" sz="1300" dirty="0"/>
          </a:p>
        </p:txBody>
      </p:sp>
      <p:sp>
        <p:nvSpPr>
          <p:cNvPr id="12" name="Text 7"/>
          <p:cNvSpPr/>
          <p:nvPr/>
        </p:nvSpPr>
        <p:spPr>
          <a:xfrm>
            <a:off x="6363772" y="3242310"/>
            <a:ext cx="7389257"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Professional exports in both PDF and CSV formats</a:t>
            </a:r>
            <a:endParaRPr lang="en-US" sz="1300" dirty="0"/>
          </a:p>
        </p:txBody>
      </p:sp>
      <p:sp>
        <p:nvSpPr>
          <p:cNvPr id="13" name="Shape 8"/>
          <p:cNvSpPr/>
          <p:nvPr/>
        </p:nvSpPr>
        <p:spPr>
          <a:xfrm>
            <a:off x="6084570" y="3965853"/>
            <a:ext cx="7947660" cy="1748433"/>
          </a:xfrm>
          <a:prstGeom prst="roundRect">
            <a:avLst>
              <a:gd name="adj" fmla="val 1466"/>
            </a:avLst>
          </a:prstGeom>
          <a:solidFill>
            <a:srgbClr val="202733"/>
          </a:solidFill>
          <a:ln w="22860">
            <a:solidFill>
              <a:srgbClr val="585F6B"/>
            </a:solidFill>
            <a:prstDash val="solid"/>
          </a:ln>
        </p:spPr>
      </p:sp>
      <p:pic>
        <p:nvPicPr>
          <p:cNvPr id="14" name="Image 3" descr="preencoded.png">    </p:cNvPr>
          <p:cNvPicPr>
            <a:picLocks noChangeAspect="1"/>
          </p:cNvPicPr>
          <p:nvPr/>
        </p:nvPicPr>
        <p:blipFill>
          <a:blip r:embed="rId4"/>
          <a:stretch>
            <a:fillRect/>
          </a:stretch>
        </p:blipFill>
        <p:spPr>
          <a:xfrm>
            <a:off x="6004917" y="3886200"/>
            <a:ext cx="205026" cy="205026"/>
          </a:xfrm>
          <a:prstGeom prst="rect">
            <a:avLst/>
          </a:prstGeom>
        </p:spPr>
      </p:pic>
      <p:pic>
        <p:nvPicPr>
          <p:cNvPr id="15" name="Image 4" descr="preencoded.png">    </p:cNvPr>
          <p:cNvPicPr>
            <a:picLocks noChangeAspect="1"/>
          </p:cNvPicPr>
          <p:nvPr/>
        </p:nvPicPr>
        <p:blipFill>
          <a:blip r:embed="rId5"/>
          <a:stretch>
            <a:fillRect/>
          </a:stretch>
        </p:blipFill>
        <p:spPr>
          <a:xfrm>
            <a:off x="13906857" y="5588913"/>
            <a:ext cx="205026" cy="205026"/>
          </a:xfrm>
          <a:prstGeom prst="rect">
            <a:avLst/>
          </a:prstGeom>
        </p:spPr>
      </p:pic>
      <p:sp>
        <p:nvSpPr>
          <p:cNvPr id="16" name="Text 9"/>
          <p:cNvSpPr/>
          <p:nvPr/>
        </p:nvSpPr>
        <p:spPr>
          <a:xfrm>
            <a:off x="6363772" y="4245054"/>
            <a:ext cx="2136577" cy="267057"/>
          </a:xfrm>
          <a:prstGeom prst="rect">
            <a:avLst/>
          </a:prstGeom>
          <a:noFill/>
          <a:ln/>
        </p:spPr>
        <p:txBody>
          <a:bodyPr wrap="none" lIns="0" tIns="0" rIns="0" bIns="0" rtlCol="0" anchor="t"/>
          <a:lstStyle/>
          <a:p>
            <a:pPr algn="l" indent="0" marL="0">
              <a:lnSpc>
                <a:spcPts val="2100"/>
              </a:lnSpc>
              <a:buNone/>
            </a:pPr>
            <a:r>
              <a:rPr lang="en-US" sz="1650" dirty="0">
                <a:solidFill>
                  <a:srgbClr val="D6E5EF"/>
                </a:solidFill>
                <a:latin typeface="Roboto Slab" pitchFamily="34" charset="0"/>
                <a:ea typeface="Roboto Slab" pitchFamily="34" charset="-122"/>
                <a:cs typeface="Roboto Slab" pitchFamily="34" charset="-120"/>
              </a:rPr>
              <a:t>Conclusion</a:t>
            </a:r>
            <a:endParaRPr lang="en-US" sz="1650" dirty="0"/>
          </a:p>
        </p:txBody>
      </p:sp>
      <p:sp>
        <p:nvSpPr>
          <p:cNvPr id="17" name="Text 10"/>
          <p:cNvSpPr/>
          <p:nvPr/>
        </p:nvSpPr>
        <p:spPr>
          <a:xfrm>
            <a:off x="6363772" y="4614624"/>
            <a:ext cx="7389257" cy="820460"/>
          </a:xfrm>
          <a:prstGeom prst="rect">
            <a:avLst/>
          </a:prstGeom>
          <a:noFill/>
          <a:ln/>
        </p:spPr>
        <p:txBody>
          <a:bodyPr wrap="square" lIns="0" tIns="0" rIns="0" bIns="0" rtlCol="0" anchor="t"/>
          <a:lstStyle/>
          <a:p>
            <a:pPr algn="l" indent="0" marL="0">
              <a:lnSpc>
                <a:spcPts val="2150"/>
              </a:lnSpc>
              <a:buNone/>
            </a:pPr>
            <a:r>
              <a:rPr lang="en-US" sz="1300" dirty="0">
                <a:solidFill>
                  <a:srgbClr val="D6E5EF"/>
                </a:solidFill>
                <a:latin typeface="Roboto" pitchFamily="34" charset="0"/>
                <a:ea typeface="Roboto" pitchFamily="34" charset="-122"/>
                <a:cs typeface="Roboto" pitchFamily="34" charset="-120"/>
              </a:rPr>
              <a:t>This system automates 80% of the literature review workflow, integrating ML, NLP, clustering, and summarisation with real-time updates. It significantly saves time for students and researchers, demonstrating cutting-edge full-stack and AI integration.</a:t>
            </a:r>
            <a:endParaRPr lang="en-US" sz="1300" dirty="0"/>
          </a:p>
        </p:txBody>
      </p:sp>
      <p:sp>
        <p:nvSpPr>
          <p:cNvPr id="18" name="Text 11"/>
          <p:cNvSpPr/>
          <p:nvPr/>
        </p:nvSpPr>
        <p:spPr>
          <a:xfrm>
            <a:off x="6084570" y="5970627"/>
            <a:ext cx="2184202" cy="267057"/>
          </a:xfrm>
          <a:prstGeom prst="rect">
            <a:avLst/>
          </a:prstGeom>
          <a:noFill/>
          <a:ln/>
        </p:spPr>
        <p:txBody>
          <a:bodyPr wrap="none" lIns="0" tIns="0" rIns="0" bIns="0" rtlCol="0" anchor="t"/>
          <a:lstStyle/>
          <a:p>
            <a:pPr algn="l" indent="0" marL="0">
              <a:lnSpc>
                <a:spcPts val="2100"/>
              </a:lnSpc>
              <a:buNone/>
            </a:pPr>
            <a:r>
              <a:rPr lang="en-US" sz="1650" dirty="0">
                <a:solidFill>
                  <a:srgbClr val="76B9FF"/>
                </a:solidFill>
                <a:latin typeface="Roboto Slab" pitchFamily="34" charset="0"/>
                <a:ea typeface="Roboto Slab" pitchFamily="34" charset="-122"/>
                <a:cs typeface="Roboto Slab" pitchFamily="34" charset="-120"/>
              </a:rPr>
              <a:t>Future Improvements</a:t>
            </a:r>
            <a:endParaRPr lang="en-US" sz="1650" dirty="0"/>
          </a:p>
        </p:txBody>
      </p:sp>
      <p:sp>
        <p:nvSpPr>
          <p:cNvPr id="19" name="Text 12"/>
          <p:cNvSpPr/>
          <p:nvPr/>
        </p:nvSpPr>
        <p:spPr>
          <a:xfrm>
            <a:off x="6084570" y="6494026"/>
            <a:ext cx="7947660"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Integration with Google Scholar for broader scraping</a:t>
            </a:r>
            <a:endParaRPr lang="en-US" sz="1300" dirty="0"/>
          </a:p>
        </p:txBody>
      </p:sp>
      <p:sp>
        <p:nvSpPr>
          <p:cNvPr id="20" name="Text 13"/>
          <p:cNvSpPr/>
          <p:nvPr/>
        </p:nvSpPr>
        <p:spPr>
          <a:xfrm>
            <a:off x="6084570" y="6827282"/>
            <a:ext cx="7947660"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Advanced PDF parsing capabilities</a:t>
            </a:r>
            <a:endParaRPr lang="en-US" sz="1300" dirty="0"/>
          </a:p>
        </p:txBody>
      </p:sp>
      <p:sp>
        <p:nvSpPr>
          <p:cNvPr id="21" name="Text 14"/>
          <p:cNvSpPr/>
          <p:nvPr/>
        </p:nvSpPr>
        <p:spPr>
          <a:xfrm>
            <a:off x="6084570" y="7160538"/>
            <a:ext cx="7947660"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Implementation of user accounts for personalised experiences</a:t>
            </a:r>
            <a:endParaRPr lang="en-US" sz="1300" dirty="0"/>
          </a:p>
        </p:txBody>
      </p:sp>
      <p:sp>
        <p:nvSpPr>
          <p:cNvPr id="22" name="Text 15"/>
          <p:cNvSpPr/>
          <p:nvPr/>
        </p:nvSpPr>
        <p:spPr>
          <a:xfrm>
            <a:off x="6084570" y="7493794"/>
            <a:ext cx="7947660" cy="273487"/>
          </a:xfrm>
          <a:prstGeom prst="rect">
            <a:avLst/>
          </a:prstGeom>
          <a:noFill/>
          <a:ln/>
        </p:spPr>
        <p:txBody>
          <a:bodyPr wrap="none" lIns="0" tIns="0" rIns="0" bIns="0" rtlCol="0" anchor="t"/>
          <a:lstStyle/>
          <a:p>
            <a:pPr algn="l" marL="342900" indent="-342900">
              <a:lnSpc>
                <a:spcPts val="2150"/>
              </a:lnSpc>
              <a:buSzPct val="100000"/>
              <a:buChar char="•"/>
            </a:pPr>
            <a:r>
              <a:rPr lang="en-US" sz="1300" dirty="0">
                <a:solidFill>
                  <a:srgbClr val="D6E5EF"/>
                </a:solidFill>
                <a:latin typeface="Roboto" pitchFamily="34" charset="0"/>
                <a:ea typeface="Roboto" pitchFamily="34" charset="-122"/>
                <a:cs typeface="Roboto" pitchFamily="34" charset="-120"/>
              </a:rPr>
              <a:t>Support for locally running Large Language Models (LLMs)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2025-11-18T05:55:54Z</dcterms:created>
  <dcterms:modified xsi:type="dcterms:W3CDTF">2025-11-18T05:55:54Z</dcterms:modified>
</cp:coreProperties>
</file>